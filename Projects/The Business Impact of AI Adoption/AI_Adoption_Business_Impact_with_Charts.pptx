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240"/>
        </a:solidFill>
        <a:effectLst/>
      </p:bgPr>
    </p:bg>
    <p:spTree>
      <p:nvGrpSpPr>
        <p:cNvPr id="1" name=""/>
        <p:cNvGrpSpPr/>
        <p:nvPr/>
      </p:nvGrpSpPr>
      <p:grpSpPr/>
      <p:sp>
        <p:nvSpPr>
          <p:cNvPr id="2" name="TextBox 1"/>
          <p:cNvSpPr txBox="1"/>
          <p:nvPr/>
        </p:nvSpPr>
        <p:spPr>
          <a:xfrm>
            <a:off x="914400" y="2011680"/>
            <a:ext cx="10332720" cy="2743200"/>
          </a:xfrm>
          <a:prstGeom prst="rect">
            <a:avLst/>
          </a:prstGeom>
          <a:noFill/>
        </p:spPr>
        <p:txBody>
          <a:bodyPr wrap="square">
            <a:spAutoFit/>
          </a:bodyPr>
          <a:lstStyle/>
          <a:p>
            <a:pPr>
              <a:defRPr sz="4600" b="1">
                <a:solidFill>
                  <a:srgbClr val="FFFFFF"/>
                </a:solidFill>
                <a:latin typeface="Arial"/>
              </a:defRPr>
            </a:pPr>
            <a:r>
              <a:t>The Business Impact of AI Adoption</a:t>
            </a:r>
          </a:p>
          <a:p>
            <a:pPr>
              <a:spcBef>
                <a:spcPts val="1500"/>
              </a:spcBef>
              <a:defRPr sz="2000">
                <a:solidFill>
                  <a:srgbClr val="0096A6"/>
                </a:solidFill>
                <a:latin typeface="Arial"/>
              </a:defRPr>
            </a:pPr>
            <a:r>
              <a:t>A Corporate Data Cleaning &amp; Exploratory Data Analysis (EDA) Project</a:t>
            </a:r>
          </a:p>
        </p:txBody>
      </p:sp>
      <p:sp>
        <p:nvSpPr>
          <p:cNvPr id="3" name="TextBox 2"/>
          <p:cNvSpPr txBox="1"/>
          <p:nvPr/>
        </p:nvSpPr>
        <p:spPr>
          <a:xfrm>
            <a:off x="914400" y="5303520"/>
            <a:ext cx="10332720" cy="914400"/>
          </a:xfrm>
          <a:prstGeom prst="rect">
            <a:avLst/>
          </a:prstGeom>
          <a:noFill/>
        </p:spPr>
        <p:txBody>
          <a:bodyPr wrap="none">
            <a:spAutoFit/>
          </a:bodyPr>
          <a:lstStyle/>
          <a:p>
            <a:pPr>
              <a:defRPr sz="1300">
                <a:solidFill>
                  <a:srgbClr val="718096"/>
                </a:solidFill>
                <a:latin typeface="Arial"/>
              </a:defRPr>
            </a:pPr>
            <a:r>
              <a:t>Analyzing 100K+ Corporate Observations (2015-2025)</a:t>
            </a:r>
            <a:br/>
            <a:r>
              <a:t>Presented by Rudra Pratap Singh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Project Overview &amp; Objectives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1000"/>
              </a:spcAft>
              <a:defRPr sz="2000" b="1">
                <a:solidFill>
                  <a:srgbClr val="0F2240"/>
                </a:solidFill>
              </a:defRPr>
            </a:pPr>
            <a:r>
              <a:t>Project Scope</a:t>
            </a:r>
          </a:p>
          <a:p>
            <a:pPr>
              <a:spcAft>
                <a:spcPts val="1200"/>
              </a:spcAft>
              <a:defRPr sz="1400">
                <a:solidFill>
                  <a:srgbClr val="2D3748"/>
                </a:solidFill>
              </a:defRPr>
            </a:pPr>
            <a:r>
              <a:t>•  Chronological Horizon: 2015 to 2025</a:t>
            </a:r>
          </a:p>
          <a:p>
            <a:pPr>
              <a:spcAft>
                <a:spcPts val="1200"/>
              </a:spcAft>
              <a:defRPr sz="1400">
                <a:solidFill>
                  <a:srgbClr val="2D3748"/>
                </a:solidFill>
              </a:defRPr>
            </a:pPr>
            <a:r>
              <a:t>•  Industry Representation: 10 Distinct Sectors (Tech, Finance, Manufacturing, Retail, etc.)</a:t>
            </a:r>
          </a:p>
          <a:p>
            <a:pPr>
              <a:spcAft>
                <a:spcPts val="1200"/>
              </a:spcAft>
              <a:defRPr sz="1400">
                <a:solidFill>
                  <a:srgbClr val="2D3748"/>
                </a:solidFill>
              </a:defRPr>
            </a:pPr>
            <a:r>
              <a:t>•  National Diversity: 15 Countries (USA, China, Singapore, Germany, Brazil, India, etc.)</a:t>
            </a:r>
          </a:p>
          <a:p>
            <a:pPr>
              <a:spcAft>
                <a:spcPts val="1200"/>
              </a:spcAft>
              <a:defRPr sz="1400">
                <a:solidFill>
                  <a:srgbClr val="2D3748"/>
                </a:solidFill>
              </a:defRPr>
            </a:pPr>
            <a:r>
              <a:t>•  Target Population: 104,845 total corporate observations tracked over a decade.</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1000"/>
              </a:spcAft>
              <a:defRPr sz="2000" b="1">
                <a:solidFill>
                  <a:srgbClr val="0F2240"/>
                </a:solidFill>
              </a:defRPr>
            </a:pPr>
            <a:r>
              <a:t>Core Objectives</a:t>
            </a:r>
          </a:p>
          <a:p>
            <a:pPr>
              <a:spcAft>
                <a:spcPts val="1200"/>
              </a:spcAft>
              <a:defRPr sz="1400"/>
            </a:pPr>
            <a:r>
              <a:t>✔  </a:t>
            </a:r>
            <a:r>
              <a:rPr b="1">
                <a:solidFill>
                  <a:srgbClr val="0F2240"/>
                </a:solidFill>
              </a:rPr>
              <a:t>Validate and Clean Raw Corporate Data:</a:t>
            </a:r>
            <a:r>
              <a:rPr>
                <a:solidFill>
                  <a:srgbClr val="2D3748"/>
                </a:solidFill>
              </a:rPr>
              <a:t> Check integrity, identify nulls/duplicates, and detect statistical anomalies.</a:t>
            </a:r>
          </a:p>
          <a:p>
            <a:pPr>
              <a:spcAft>
                <a:spcPts val="1200"/>
              </a:spcAft>
              <a:defRPr sz="1400"/>
            </a:pPr>
            <a:r>
              <a:t>✔  </a:t>
            </a:r>
            <a:r>
              <a:rPr b="1">
                <a:solidFill>
                  <a:srgbClr val="0F2240"/>
                </a:solidFill>
              </a:rPr>
              <a:t>Perform Extensive EDA:</a:t>
            </a:r>
            <a:r>
              <a:rPr>
                <a:solidFill>
                  <a:srgbClr val="2D3748"/>
                </a:solidFill>
              </a:rPr>
              <a:t> Analyze trends, industry-specific adoption rates, and investment differences.</a:t>
            </a:r>
          </a:p>
          <a:p>
            <a:pPr>
              <a:spcAft>
                <a:spcPts val="1200"/>
              </a:spcAft>
              <a:defRPr sz="1400"/>
            </a:pPr>
            <a:r>
              <a:t>✔  </a:t>
            </a:r>
            <a:r>
              <a:rPr b="1">
                <a:solidFill>
                  <a:srgbClr val="0F2240"/>
                </a:solidFill>
              </a:rPr>
              <a:t>Identify Growth Drivers:</a:t>
            </a:r>
            <a:r>
              <a:rPr>
                <a:solidFill>
                  <a:srgbClr val="2D3748"/>
                </a:solidFill>
              </a:rPr>
              <a:t> Highlight statistical correlations between training, maturity, automation, and performance.</a:t>
            </a:r>
          </a:p>
          <a:p>
            <a:pPr>
              <a:spcAft>
                <a:spcPts val="1200"/>
              </a:spcAft>
              <a:defRPr sz="1400"/>
            </a:pPr>
            <a:r>
              <a:t>✔  </a:t>
            </a:r>
            <a:r>
              <a:rPr b="1">
                <a:solidFill>
                  <a:srgbClr val="0F2240"/>
                </a:solidFill>
              </a:rPr>
              <a:t>Provide Strategic Insights:</a:t>
            </a:r>
            <a:r>
              <a:rPr>
                <a:solidFill>
                  <a:srgbClr val="2D3748"/>
                </a:solidFill>
              </a:rPr>
              <a:t> Support business leaders in maximizing productivity and financial returns on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The Raw Dataset (What Data We Got)</a:t>
            </a:r>
          </a:p>
        </p:txBody>
      </p:sp>
      <p:sp>
        <p:nvSpPr>
          <p:cNvPr id="4" name="Rounded Rectangle 3"/>
          <p:cNvSpPr/>
          <p:nvPr/>
        </p:nvSpPr>
        <p:spPr>
          <a:xfrm>
            <a:off x="731520" y="1463040"/>
            <a:ext cx="41148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3566160" cy="4114800"/>
          </a:xfrm>
          <a:prstGeom prst="rect">
            <a:avLst/>
          </a:prstGeom>
          <a:noFill/>
        </p:spPr>
        <p:txBody>
          <a:bodyPr wrap="square">
            <a:spAutoFit/>
          </a:bodyPr>
          <a:lstStyle/>
          <a:p>
            <a:pPr>
              <a:spcAft>
                <a:spcPts val="1500"/>
              </a:spcAft>
              <a:defRPr sz="2000" b="1">
                <a:solidFill>
                  <a:srgbClr val="0F2240"/>
                </a:solidFill>
              </a:defRPr>
            </a:pPr>
            <a:r>
              <a:t>Dataset Characteristics</a:t>
            </a:r>
          </a:p>
          <a:p>
            <a:pPr>
              <a:spcAft>
                <a:spcPts val="1000"/>
              </a:spcAft>
              <a:defRPr sz="1400"/>
            </a:pPr>
            <a:r>
              <a:rPr b="1">
                <a:solidFill>
                  <a:srgbClr val="0F2240"/>
                </a:solidFill>
              </a:rPr>
              <a:t>Total Records: </a:t>
            </a:r>
            <a:r>
              <a:rPr>
                <a:solidFill>
                  <a:srgbClr val="0096A6"/>
                </a:solidFill>
              </a:rPr>
              <a:t>104,845 rows</a:t>
            </a:r>
          </a:p>
          <a:p>
            <a:pPr>
              <a:spcAft>
                <a:spcPts val="1000"/>
              </a:spcAft>
              <a:defRPr sz="1400"/>
            </a:pPr>
            <a:r>
              <a:rPr b="1">
                <a:solidFill>
                  <a:srgbClr val="0F2240"/>
                </a:solidFill>
              </a:rPr>
              <a:t>Total Features: </a:t>
            </a:r>
            <a:r>
              <a:rPr>
                <a:solidFill>
                  <a:srgbClr val="2D3748"/>
                </a:solidFill>
              </a:rPr>
              <a:t>13 columns</a:t>
            </a:r>
          </a:p>
          <a:p>
            <a:pPr>
              <a:spcAft>
                <a:spcPts val="1000"/>
              </a:spcAft>
              <a:defRPr sz="1400"/>
            </a:pPr>
            <a:r>
              <a:rPr b="1">
                <a:solidFill>
                  <a:srgbClr val="0F2240"/>
                </a:solidFill>
              </a:rPr>
              <a:t>Missing Values: </a:t>
            </a:r>
            <a:r>
              <a:rPr>
                <a:solidFill>
                  <a:srgbClr val="0096A6"/>
                </a:solidFill>
              </a:rPr>
              <a:t>0 (100% complete)</a:t>
            </a:r>
          </a:p>
          <a:p>
            <a:pPr>
              <a:spcAft>
                <a:spcPts val="1000"/>
              </a:spcAft>
              <a:defRPr sz="1400"/>
            </a:pPr>
            <a:r>
              <a:rPr b="1">
                <a:solidFill>
                  <a:srgbClr val="0F2240"/>
                </a:solidFill>
              </a:rPr>
              <a:t>Duplicates: </a:t>
            </a:r>
            <a:r>
              <a:rPr>
                <a:solidFill>
                  <a:srgbClr val="0096A6"/>
                </a:solidFill>
              </a:rPr>
              <a:t>0 duplicate rows</a:t>
            </a:r>
          </a:p>
          <a:p>
            <a:pPr>
              <a:spcAft>
                <a:spcPts val="1000"/>
              </a:spcAft>
              <a:defRPr sz="1400"/>
            </a:pPr>
            <a:r>
              <a:rPr b="1">
                <a:solidFill>
                  <a:srgbClr val="0F2240"/>
                </a:solidFill>
              </a:rPr>
              <a:t>Observation Years: </a:t>
            </a:r>
            <a:r>
              <a:rPr>
                <a:solidFill>
                  <a:srgbClr val="0096A6"/>
                </a:solidFill>
              </a:rPr>
              <a:t>2015 – 2025</a:t>
            </a:r>
          </a:p>
        </p:txBody>
      </p:sp>
      <p:sp>
        <p:nvSpPr>
          <p:cNvPr id="6" name="Rounded Rectangle 5"/>
          <p:cNvSpPr/>
          <p:nvPr/>
        </p:nvSpPr>
        <p:spPr>
          <a:xfrm>
            <a:off x="5303520" y="1463040"/>
            <a:ext cx="61264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1645920"/>
            <a:ext cx="5577840" cy="4114800"/>
          </a:xfrm>
          <a:prstGeom prst="rect">
            <a:avLst/>
          </a:prstGeom>
          <a:noFill/>
        </p:spPr>
        <p:txBody>
          <a:bodyPr wrap="square">
            <a:spAutoFit/>
          </a:bodyPr>
          <a:lstStyle/>
          <a:p>
            <a:pPr>
              <a:spcAft>
                <a:spcPts val="1000"/>
              </a:spcAft>
              <a:defRPr sz="2000" b="1">
                <a:solidFill>
                  <a:srgbClr val="0F2240"/>
                </a:solidFill>
              </a:defRPr>
            </a:pPr>
            <a:r>
              <a:t>Variables &amp; Metrics Captured</a:t>
            </a:r>
          </a:p>
          <a:p>
            <a:pPr>
              <a:spcAft>
                <a:spcPts val="600"/>
              </a:spcAft>
              <a:defRPr sz="1300"/>
            </a:pPr>
            <a:r>
              <a:t>•  </a:t>
            </a:r>
            <a:r>
              <a:rPr b="1">
                <a:solidFill>
                  <a:srgbClr val="0096A6"/>
                </a:solidFill>
              </a:rPr>
              <a:t>company_id, industry, country</a:t>
            </a:r>
            <a:r>
              <a:rPr>
                <a:solidFill>
                  <a:srgbClr val="2D3748"/>
                </a:solidFill>
              </a:rPr>
              <a:t> (Identifiers &amp; demographics)</a:t>
            </a:r>
          </a:p>
          <a:p>
            <a:pPr>
              <a:spcAft>
                <a:spcPts val="600"/>
              </a:spcAft>
              <a:defRPr sz="1300"/>
            </a:pPr>
            <a:r>
              <a:t>•  </a:t>
            </a:r>
            <a:r>
              <a:rPr b="1">
                <a:solidFill>
                  <a:srgbClr val="0096A6"/>
                </a:solidFill>
              </a:rPr>
              <a:t>year, ai_adoption_level</a:t>
            </a:r>
            <a:r>
              <a:rPr>
                <a:solidFill>
                  <a:srgbClr val="2D3748"/>
                </a:solidFill>
              </a:rPr>
              <a:t> (Temporal tracking &amp; adoption scale)</a:t>
            </a:r>
          </a:p>
          <a:p>
            <a:pPr>
              <a:spcAft>
                <a:spcPts val="600"/>
              </a:spcAft>
              <a:defRPr sz="1300"/>
            </a:pPr>
            <a:r>
              <a:t>•  </a:t>
            </a:r>
            <a:r>
              <a:rPr b="1">
                <a:solidFill>
                  <a:srgbClr val="0096A6"/>
                </a:solidFill>
              </a:rPr>
              <a:t>ai_investment_usd</a:t>
            </a:r>
            <a:r>
              <a:rPr>
                <a:solidFill>
                  <a:srgbClr val="2D3748"/>
                </a:solidFill>
              </a:rPr>
              <a:t> (Financial input (USD))</a:t>
            </a:r>
          </a:p>
          <a:p>
            <a:pPr>
              <a:spcAft>
                <a:spcPts val="600"/>
              </a:spcAft>
              <a:defRPr sz="1300"/>
            </a:pPr>
            <a:r>
              <a:t>•  </a:t>
            </a:r>
            <a:r>
              <a:rPr b="1">
                <a:solidFill>
                  <a:srgbClr val="0096A6"/>
                </a:solidFill>
              </a:rPr>
              <a:t>cost_savings, revenue_impact</a:t>
            </a:r>
            <a:r>
              <a:rPr>
                <a:solidFill>
                  <a:srgbClr val="2D3748"/>
                </a:solidFill>
              </a:rPr>
              <a:t> (Financial returns / outcomes)</a:t>
            </a:r>
          </a:p>
          <a:p>
            <a:pPr>
              <a:spcAft>
                <a:spcPts val="600"/>
              </a:spcAft>
              <a:defRPr sz="1300"/>
            </a:pPr>
            <a:r>
              <a:t>•  </a:t>
            </a:r>
            <a:r>
              <a:rPr b="1">
                <a:solidFill>
                  <a:srgbClr val="0096A6"/>
                </a:solidFill>
              </a:rPr>
              <a:t>automation_rate, productivity_gain</a:t>
            </a:r>
            <a:r>
              <a:rPr>
                <a:solidFill>
                  <a:srgbClr val="2D3748"/>
                </a:solidFill>
              </a:rPr>
              <a:t> (Process and efficiency gains)</a:t>
            </a:r>
          </a:p>
          <a:p>
            <a:pPr>
              <a:spcAft>
                <a:spcPts val="600"/>
              </a:spcAft>
              <a:defRPr sz="1300"/>
            </a:pPr>
            <a:r>
              <a:t>•  </a:t>
            </a:r>
            <a:r>
              <a:rPr b="1">
                <a:solidFill>
                  <a:srgbClr val="0096A6"/>
                </a:solidFill>
              </a:rPr>
              <a:t>employee_ai_training_hours</a:t>
            </a:r>
            <a:r>
              <a:rPr>
                <a:solidFill>
                  <a:srgbClr val="2D3748"/>
                </a:solidFill>
              </a:rPr>
              <a:t> (Human capital development input)</a:t>
            </a:r>
          </a:p>
          <a:p>
            <a:pPr>
              <a:spcAft>
                <a:spcPts val="600"/>
              </a:spcAft>
              <a:defRPr sz="1300"/>
            </a:pPr>
            <a:r>
              <a:t>•  </a:t>
            </a:r>
            <a:r>
              <a:rPr b="1">
                <a:solidFill>
                  <a:srgbClr val="0096A6"/>
                </a:solidFill>
              </a:rPr>
              <a:t>ai_maturity_score, deployment_count</a:t>
            </a:r>
            <a:r>
              <a:rPr>
                <a:solidFill>
                  <a:srgbClr val="2D3748"/>
                </a:solidFill>
              </a:rPr>
              <a:t> (Capability maturity &amp; scaling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Data Cleaning &amp; Preprocessing (Changes Made)</a:t>
            </a:r>
          </a:p>
        </p:txBody>
      </p:sp>
      <p:sp>
        <p:nvSpPr>
          <p:cNvPr id="4" name="Rounded Rectangle 3"/>
          <p:cNvSpPr/>
          <p:nvPr/>
        </p:nvSpPr>
        <p:spPr>
          <a:xfrm>
            <a:off x="731520" y="146304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206240"/>
          </a:xfrm>
          <a:prstGeom prst="rect">
            <a:avLst/>
          </a:prstGeom>
          <a:noFill/>
        </p:spPr>
        <p:txBody>
          <a:bodyPr wrap="square">
            <a:spAutoFit/>
          </a:bodyPr>
          <a:lstStyle/>
          <a:p>
            <a:pPr>
              <a:spcAft>
                <a:spcPts val="1200"/>
              </a:spcAft>
              <a:defRPr sz="1800" b="1">
                <a:solidFill>
                  <a:srgbClr val="0F2240"/>
                </a:solidFill>
              </a:defRPr>
            </a:pPr>
            <a:r>
              <a:t>1. Data Validation</a:t>
            </a:r>
          </a:p>
          <a:p>
            <a:pPr>
              <a:spcAft>
                <a:spcPts val="800"/>
              </a:spcAft>
              <a:defRPr sz="1300"/>
            </a:pPr>
            <a:r>
              <a:t>•  </a:t>
            </a:r>
            <a:r>
              <a:rPr b="1">
                <a:solidFill>
                  <a:srgbClr val="0F2240"/>
                </a:solidFill>
              </a:rPr>
              <a:t>Nulls Checked:</a:t>
            </a:r>
            <a:r>
              <a:rPr>
                <a:solidFill>
                  <a:srgbClr val="2D3748"/>
                </a:solidFill>
              </a:rPr>
              <a:t> Evaluated all columns using df.isnull().sum(). Zero missing values found.</a:t>
            </a:r>
          </a:p>
          <a:p>
            <a:pPr>
              <a:spcAft>
                <a:spcPts val="800"/>
              </a:spcAft>
              <a:defRPr sz="1300"/>
            </a:pPr>
            <a:r>
              <a:t>•  </a:t>
            </a:r>
            <a:r>
              <a:rPr b="1">
                <a:solidFill>
                  <a:srgbClr val="0F2240"/>
                </a:solidFill>
              </a:rPr>
              <a:t>Duplicates Checked:</a:t>
            </a:r>
            <a:r>
              <a:rPr>
                <a:solidFill>
                  <a:srgbClr val="2D3748"/>
                </a:solidFill>
              </a:rPr>
              <a:t> Verified row integrity using df.duplicated().sum(). No duplicate rows present.</a:t>
            </a:r>
          </a:p>
          <a:p>
            <a:pPr>
              <a:spcAft>
                <a:spcPts val="800"/>
              </a:spcAft>
              <a:defRPr sz="1300"/>
            </a:pPr>
            <a:r>
              <a:t>•  </a:t>
            </a:r>
            <a:r>
              <a:rPr b="1">
                <a:solidFill>
                  <a:srgbClr val="0F2240"/>
                </a:solidFill>
              </a:rPr>
              <a:t>Schema Verified:</a:t>
            </a:r>
            <a:r>
              <a:rPr>
                <a:solidFill>
                  <a:srgbClr val="2D3748"/>
                </a:solidFill>
              </a:rPr>
              <a:t> Confirmed correct data types (5 floats, 5 integers, 3 objects).</a:t>
            </a:r>
          </a:p>
        </p:txBody>
      </p:sp>
      <p:sp>
        <p:nvSpPr>
          <p:cNvPr id="6" name="Rounded Rectangle 5"/>
          <p:cNvSpPr/>
          <p:nvPr/>
        </p:nvSpPr>
        <p:spPr>
          <a:xfrm>
            <a:off x="4389120" y="146304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2926080" cy="4206240"/>
          </a:xfrm>
          <a:prstGeom prst="rect">
            <a:avLst/>
          </a:prstGeom>
          <a:noFill/>
        </p:spPr>
        <p:txBody>
          <a:bodyPr wrap="square">
            <a:spAutoFit/>
          </a:bodyPr>
          <a:lstStyle/>
          <a:p>
            <a:pPr>
              <a:spcAft>
                <a:spcPts val="1200"/>
              </a:spcAft>
              <a:defRPr sz="1800" b="1">
                <a:solidFill>
                  <a:srgbClr val="0F2240"/>
                </a:solidFill>
              </a:defRPr>
            </a:pPr>
            <a:r>
              <a:t>2. Categorical Audit</a:t>
            </a:r>
          </a:p>
          <a:p>
            <a:pPr>
              <a:spcAft>
                <a:spcPts val="800"/>
              </a:spcAft>
              <a:defRPr sz="1300"/>
            </a:pPr>
            <a:r>
              <a:t>•  </a:t>
            </a:r>
            <a:r>
              <a:rPr b="1">
                <a:solidFill>
                  <a:srgbClr val="0F2240"/>
                </a:solidFill>
              </a:rPr>
              <a:t>Industry Categories:</a:t>
            </a:r>
            <a:r>
              <a:rPr>
                <a:solidFill>
                  <a:srgbClr val="2D3748"/>
                </a:solidFill>
              </a:rPr>
              <a:t> Audited all 10 unique industries for text inconsistencies. All standard.</a:t>
            </a:r>
          </a:p>
          <a:p>
            <a:pPr>
              <a:spcAft>
                <a:spcPts val="800"/>
              </a:spcAft>
              <a:defRPr sz="1300"/>
            </a:pPr>
            <a:r>
              <a:t>•  </a:t>
            </a:r>
            <a:r>
              <a:rPr b="1">
                <a:solidFill>
                  <a:srgbClr val="0F2240"/>
                </a:solidFill>
              </a:rPr>
              <a:t>Country Demographics:</a:t>
            </a:r>
            <a:r>
              <a:rPr>
                <a:solidFill>
                  <a:srgbClr val="2D3748"/>
                </a:solidFill>
              </a:rPr>
              <a:t> Audited all 15 unique countries. Verified zero spelling variants or duplicates.</a:t>
            </a:r>
          </a:p>
          <a:p>
            <a:pPr>
              <a:spcAft>
                <a:spcPts val="800"/>
              </a:spcAft>
              <a:defRPr sz="1300"/>
            </a:pPr>
            <a:r>
              <a:t>•  </a:t>
            </a:r>
            <a:r>
              <a:rPr b="1">
                <a:solidFill>
                  <a:srgbClr val="0F2240"/>
                </a:solidFill>
              </a:rPr>
              <a:t>Case Standardizing:</a:t>
            </a:r>
            <a:r>
              <a:rPr>
                <a:solidFill>
                  <a:srgbClr val="2D3748"/>
                </a:solidFill>
              </a:rPr>
              <a:t> Column names confirmed in consistent, lowercase snake_case.</a:t>
            </a:r>
          </a:p>
        </p:txBody>
      </p:sp>
      <p:sp>
        <p:nvSpPr>
          <p:cNvPr id="8" name="Rounded Rectangle 7"/>
          <p:cNvSpPr/>
          <p:nvPr/>
        </p:nvSpPr>
        <p:spPr>
          <a:xfrm>
            <a:off x="8046720" y="146304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2926080" cy="4206240"/>
          </a:xfrm>
          <a:prstGeom prst="rect">
            <a:avLst/>
          </a:prstGeom>
          <a:noFill/>
        </p:spPr>
        <p:txBody>
          <a:bodyPr wrap="square">
            <a:spAutoFit/>
          </a:bodyPr>
          <a:lstStyle/>
          <a:p>
            <a:pPr>
              <a:spcAft>
                <a:spcPts val="1200"/>
              </a:spcAft>
              <a:defRPr sz="1800" b="1">
                <a:solidFill>
                  <a:srgbClr val="0F2240"/>
                </a:solidFill>
              </a:defRPr>
            </a:pPr>
            <a:r>
              <a:t>3. Outlier Strategy</a:t>
            </a:r>
          </a:p>
          <a:p>
            <a:pPr>
              <a:spcAft>
                <a:spcPts val="800"/>
              </a:spcAft>
              <a:defRPr sz="1300"/>
            </a:pPr>
            <a:r>
              <a:t>•  </a:t>
            </a:r>
            <a:r>
              <a:rPr b="1">
                <a:solidFill>
                  <a:srgbClr val="0F2240"/>
                </a:solidFill>
              </a:rPr>
              <a:t>Detection Method:</a:t>
            </a:r>
            <a:r>
              <a:rPr>
                <a:solidFill>
                  <a:srgbClr val="2D3748"/>
                </a:solidFill>
              </a:rPr>
              <a:t> Combined visual Box Plots with statistical Z-scores (abs(Z) &gt; 3).</a:t>
            </a:r>
          </a:p>
          <a:p>
            <a:pPr>
              <a:spcAft>
                <a:spcPts val="800"/>
              </a:spcAft>
              <a:defRPr sz="1300"/>
            </a:pPr>
            <a:r>
              <a:t>•  </a:t>
            </a:r>
            <a:r>
              <a:rPr b="1">
                <a:solidFill>
                  <a:srgbClr val="0F2240"/>
                </a:solidFill>
              </a:rPr>
              <a:t>Key Skew Columns:</a:t>
            </a:r>
            <a:r>
              <a:rPr>
                <a:solidFill>
                  <a:srgbClr val="2D3748"/>
                </a:solidFill>
              </a:rPr>
              <a:t> Financial features (Cost Savings, Revenue Impact, and Investment) showed high outlier counts.</a:t>
            </a:r>
          </a:p>
          <a:p>
            <a:pPr>
              <a:spcAft>
                <a:spcPts val="800"/>
              </a:spcAft>
              <a:defRPr sz="1300"/>
            </a:pPr>
            <a:r>
              <a:t>•  </a:t>
            </a:r>
            <a:r>
              <a:rPr b="1">
                <a:solidFill>
                  <a:srgbClr val="0F2240"/>
                </a:solidFill>
              </a:rPr>
              <a:t>Analytical Decision:</a:t>
            </a:r>
            <a:r>
              <a:rPr>
                <a:solidFill>
                  <a:srgbClr val="2D3748"/>
                </a:solidFill>
              </a:rPr>
              <a:t> Outliers kept in the dataset. They represent real business variations (large enterprises) rather than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Insights: AI Adoption Trends &amp; Investments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trend.png"/>
          <p:cNvPicPr>
            <a:picLocks noChangeAspect="1"/>
          </p:cNvPicPr>
          <p:nvPr/>
        </p:nvPicPr>
        <p:blipFill>
          <a:blip r:embed="rId2"/>
          <a:stretch>
            <a:fillRect/>
          </a:stretch>
        </p:blipFill>
        <p:spPr>
          <a:xfrm>
            <a:off x="822960" y="1828800"/>
            <a:ext cx="4937760" cy="3840480"/>
          </a:xfrm>
          <a:prstGeom prst="rect">
            <a:avLst/>
          </a:prstGeom>
        </p:spPr>
      </p:pic>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206240"/>
          </a:xfrm>
          <a:prstGeom prst="rect">
            <a:avLst/>
          </a:prstGeom>
          <a:noFill/>
        </p:spPr>
        <p:txBody>
          <a:bodyPr wrap="square">
            <a:spAutoFit/>
          </a:bodyPr>
          <a:lstStyle/>
          <a:p>
            <a:pPr>
              <a:spcAft>
                <a:spcPts val="1000"/>
              </a:spcAft>
              <a:defRPr sz="2000" b="1">
                <a:solidFill>
                  <a:srgbClr val="0F2240"/>
                </a:solidFill>
              </a:defRPr>
            </a:pPr>
            <a:r>
              <a:t>Chart Analysis &amp; Strategic Value</a:t>
            </a:r>
          </a:p>
          <a:p>
            <a:pPr>
              <a:spcAft>
                <a:spcPts val="800"/>
              </a:spcAft>
              <a:defRPr sz="1200"/>
            </a:pPr>
            <a:r>
              <a:rPr b="1">
                <a:solidFill>
                  <a:srgbClr val="0F2240"/>
                </a:solidFill>
              </a:rPr>
              <a:t>⚡  Steady 10-Year Growth: </a:t>
            </a:r>
            <a:r>
              <a:rPr>
                <a:solidFill>
                  <a:srgbClr val="2D3748"/>
                </a:solidFill>
              </a:rPr>
              <a:t>Average AI adoption level climbed from 0.19 (2015) to 0.53 (2025). This shows that corporate adoption of AI is not a short-term trend, but a continuous technological transition.</a:t>
            </a:r>
          </a:p>
          <a:p>
            <a:pPr>
              <a:spcAft>
                <a:spcPts val="800"/>
              </a:spcAft>
              <a:defRPr sz="1200"/>
            </a:pPr>
            <a:r>
              <a:rPr b="1">
                <a:solidFill>
                  <a:srgbClr val="0F2240"/>
                </a:solidFill>
              </a:rPr>
              <a:t>⚡  Financial Sector dominance: </a:t>
            </a:r>
            <a:r>
              <a:rPr>
                <a:solidFill>
                  <a:srgbClr val="2D3748"/>
                </a:solidFill>
              </a:rPr>
              <a:t>Financial Services records the highest average AI investment ($6.19M), while Technology ranks second ($4.92M). These high-resource industries lead the financial backing of AI adoption globally.</a:t>
            </a:r>
          </a:p>
          <a:p>
            <a:pPr>
              <a:spcAft>
                <a:spcPts val="800"/>
              </a:spcAft>
              <a:defRPr sz="1200"/>
            </a:pPr>
            <a:r>
              <a:rPr b="1">
                <a:solidFill>
                  <a:srgbClr val="0F2240"/>
                </a:solidFill>
              </a:rPr>
              <a:t>⚡  Unique Insight: </a:t>
            </a:r>
            <a:r>
              <a:rPr>
                <a:solidFill>
                  <a:srgbClr val="2D3748"/>
                </a:solidFill>
              </a:rPr>
              <a:t>AI adoption averages are nearly identical across all 10 industries (around 0.35-0.36), indicating that almost all sectors are attempting to adopt AI at a similar pace, despite vast differences in their financial budgets (e.g. Education invests only $0.61M average).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Insights: Business Returns &amp; Productivity</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206240"/>
          </a:xfrm>
          <a:prstGeom prst="rect">
            <a:avLst/>
          </a:prstGeom>
          <a:noFill/>
        </p:spPr>
        <p:txBody>
          <a:bodyPr wrap="square">
            <a:spAutoFit/>
          </a:bodyPr>
          <a:lstStyle/>
          <a:p>
            <a:pPr>
              <a:spcAft>
                <a:spcPts val="1000"/>
              </a:spcAft>
              <a:defRPr sz="2000" b="1">
                <a:solidFill>
                  <a:srgbClr val="0F2240"/>
                </a:solidFill>
              </a:defRPr>
            </a:pPr>
            <a:r>
              <a:t>Financial Returns vs. Efficiency</a:t>
            </a:r>
          </a:p>
          <a:p>
            <a:pPr>
              <a:spcAft>
                <a:spcPts val="800"/>
              </a:spcAft>
              <a:defRPr sz="1200"/>
            </a:pPr>
            <a:r>
              <a:rPr b="1">
                <a:solidFill>
                  <a:srgbClr val="0F2240"/>
                </a:solidFill>
              </a:rPr>
              <a:t>⚡  Financial Returns: </a:t>
            </a:r>
            <a:r>
              <a:rPr>
                <a:solidFill>
                  <a:srgbClr val="2D3748"/>
                </a:solidFill>
              </a:rPr>
              <a:t>Technology achieves the highest revenue impact ($3.13M avg) and cost savings ($2.52M avg). Tech is structurally positioned to directly monetize AI capabilities.</a:t>
            </a:r>
          </a:p>
          <a:p>
            <a:pPr>
              <a:spcAft>
                <a:spcPts val="800"/>
              </a:spcAft>
              <a:defRPr sz="1200"/>
            </a:pPr>
            <a:r>
              <a:rPr b="1">
                <a:solidFill>
                  <a:srgbClr val="0F2240"/>
                </a:solidFill>
              </a:rPr>
              <a:t>⚡  Operational Productivity: </a:t>
            </a:r>
            <a:r>
              <a:rPr>
                <a:solidFill>
                  <a:srgbClr val="2D3748"/>
                </a:solidFill>
              </a:rPr>
              <a:t>Manufacturing and Logistics lead in productivity gains (average 0.30 gain). In these physical asset industries, AI automation of supply chains and factory scheduling yields immediate process efficiency.</a:t>
            </a:r>
          </a:p>
          <a:p>
            <a:pPr>
              <a:spcAft>
                <a:spcPts val="800"/>
              </a:spcAft>
              <a:defRPr sz="1200"/>
            </a:pPr>
            <a:r>
              <a:rPr b="1">
                <a:solidFill>
                  <a:srgbClr val="0F2240"/>
                </a:solidFill>
              </a:rPr>
              <a:t>⚡  Unique Insight: </a:t>
            </a:r>
            <a:r>
              <a:rPr>
                <a:solidFill>
                  <a:srgbClr val="2D3748"/>
                </a:solidFill>
              </a:rPr>
              <a:t>There is a divergence between who spends/gains the most money and who achieves the highest efficiency. Financial Services and Tech spend and generate the most cash, but Manufacturing and Logistics are the true winners in productivity gains.</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ot_industry_comparison.png"/>
          <p:cNvPicPr>
            <a:picLocks noChangeAspect="1"/>
          </p:cNvPicPr>
          <p:nvPr/>
        </p:nvPicPr>
        <p:blipFill>
          <a:blip r:embed="rId2"/>
          <a:stretch>
            <a:fillRect/>
          </a:stretch>
        </p:blipFill>
        <p:spPr>
          <a:xfrm>
            <a:off x="6400800" y="1828800"/>
            <a:ext cx="4937760" cy="3840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Insights: Correlation &amp; Key Growth Drivers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heatmap.png"/>
          <p:cNvPicPr>
            <a:picLocks noChangeAspect="1"/>
          </p:cNvPicPr>
          <p:nvPr/>
        </p:nvPicPr>
        <p:blipFill>
          <a:blip r:embed="rId2"/>
          <a:stretch>
            <a:fillRect/>
          </a:stretch>
        </p:blipFill>
        <p:spPr>
          <a:xfrm>
            <a:off x="822960" y="1828800"/>
            <a:ext cx="4937760" cy="3840480"/>
          </a:xfrm>
          <a:prstGeom prst="rect">
            <a:avLst/>
          </a:prstGeom>
        </p:spPr>
      </p:pic>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206240"/>
          </a:xfrm>
          <a:prstGeom prst="rect">
            <a:avLst/>
          </a:prstGeom>
          <a:noFill/>
        </p:spPr>
        <p:txBody>
          <a:bodyPr wrap="square">
            <a:spAutoFit/>
          </a:bodyPr>
          <a:lstStyle/>
          <a:p>
            <a:pPr>
              <a:spcAft>
                <a:spcPts val="1000"/>
              </a:spcAft>
              <a:defRPr sz="2000" b="1">
                <a:solidFill>
                  <a:srgbClr val="0F2240"/>
                </a:solidFill>
              </a:defRPr>
            </a:pPr>
            <a:r>
              <a:t>Correlation &amp; Growth Engine Analysis</a:t>
            </a:r>
          </a:p>
          <a:p>
            <a:pPr>
              <a:spcAft>
                <a:spcPts val="800"/>
              </a:spcAft>
              <a:defRPr sz="1200"/>
            </a:pPr>
            <a:r>
              <a:rPr b="1">
                <a:solidFill>
                  <a:srgbClr val="0F2240"/>
                </a:solidFill>
              </a:rPr>
              <a:t>🔗  Automation is Key: </a:t>
            </a:r>
            <a:r>
              <a:rPr>
                <a:solidFill>
                  <a:srgbClr val="2D3748"/>
                </a:solidFill>
              </a:rPr>
              <a:t>Automation Rate and Productivity Gain have a correlation of 0.95. Automating workflows is the single most powerful driver of corporate productivity improvements.</a:t>
            </a:r>
          </a:p>
          <a:p>
            <a:pPr>
              <a:spcAft>
                <a:spcPts val="800"/>
              </a:spcAft>
              <a:defRPr sz="1200"/>
            </a:pPr>
            <a:r>
              <a:rPr b="1">
                <a:solidFill>
                  <a:srgbClr val="0F2240"/>
                </a:solidFill>
              </a:rPr>
              <a:t>🔗  Human Capital is the Catalyst: </a:t>
            </a:r>
            <a:r>
              <a:rPr>
                <a:solidFill>
                  <a:srgbClr val="2D3748"/>
                </a:solidFill>
              </a:rPr>
              <a:t>Employee AI Training hours correlate at 0.85 with AI Maturity Score. Companies that ignore training cannot achieve operational maturity.</a:t>
            </a:r>
          </a:p>
          <a:p>
            <a:pPr>
              <a:spcAft>
                <a:spcPts val="800"/>
              </a:spcAft>
              <a:defRPr sz="1200"/>
            </a:pPr>
            <a:r>
              <a:rPr b="1">
                <a:solidFill>
                  <a:srgbClr val="0F2240"/>
                </a:solidFill>
              </a:rPr>
              <a:t>🔗  Unique Insight: </a:t>
            </a:r>
            <a:r>
              <a:rPr>
                <a:solidFill>
                  <a:srgbClr val="2D3748"/>
                </a:solidFill>
              </a:rPr>
              <a:t>AI investment has a strong correlation with Cost Savings (0.85) but only a moderate correlation with Revenue Impact (0.65). This indicates that AI is initially much more effective as a tool for cutting costs than for building new revenue streams.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STRATEGIC RECOMMENDATIONS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Actionable Recommendations (Changes We Can Make)</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training_vs_maturity.png"/>
          <p:cNvPicPr>
            <a:picLocks noChangeAspect="1"/>
          </p:cNvPicPr>
          <p:nvPr/>
        </p:nvPicPr>
        <p:blipFill>
          <a:blip r:embed="rId2"/>
          <a:stretch>
            <a:fillRect/>
          </a:stretch>
        </p:blipFill>
        <p:spPr>
          <a:xfrm>
            <a:off x="822960" y="1828800"/>
            <a:ext cx="4937760" cy="3840480"/>
          </a:xfrm>
          <a:prstGeom prst="rect">
            <a:avLst/>
          </a:prstGeom>
        </p:spPr>
      </p:pic>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206240"/>
          </a:xfrm>
          <a:prstGeom prst="rect">
            <a:avLst/>
          </a:prstGeom>
          <a:noFill/>
        </p:spPr>
        <p:txBody>
          <a:bodyPr wrap="square">
            <a:spAutoFit/>
          </a:bodyPr>
          <a:lstStyle/>
          <a:p>
            <a:pPr>
              <a:spcAft>
                <a:spcPts val="1000"/>
              </a:spcAft>
              <a:defRPr sz="2000" b="1">
                <a:solidFill>
                  <a:srgbClr val="0F2240"/>
                </a:solidFill>
              </a:defRPr>
            </a:pPr>
            <a:r>
              <a:t>Data-Driven Strategic Actions</a:t>
            </a:r>
          </a:p>
          <a:p>
            <a:pPr>
              <a:spcAft>
                <a:spcPts val="600"/>
              </a:spcAft>
              <a:defRPr sz="1100"/>
            </a:pPr>
            <a:r>
              <a:rPr b="1">
                <a:solidFill>
                  <a:srgbClr val="0F2240"/>
                </a:solidFill>
              </a:rPr>
              <a:t>1. Prioritize Workforce Reskilling: </a:t>
            </a:r>
            <a:r>
              <a:rPr>
                <a:solidFill>
                  <a:srgbClr val="2D3748"/>
                </a:solidFill>
              </a:rPr>
              <a:t>Since employee training has a strong positive relationship with AI maturity (r=0.85), reskilling programs must be structured and mandatory, not optional.</a:t>
            </a:r>
          </a:p>
          <a:p>
            <a:pPr>
              <a:spcAft>
                <a:spcPts val="600"/>
              </a:spcAft>
              <a:defRPr sz="1100"/>
            </a:pPr>
            <a:r>
              <a:rPr b="1">
                <a:solidFill>
                  <a:srgbClr val="0F2240"/>
                </a:solidFill>
              </a:rPr>
              <a:t>2. Focus on Process-Wide Integration: </a:t>
            </a:r>
            <a:r>
              <a:rPr>
                <a:solidFill>
                  <a:srgbClr val="2D3748"/>
                </a:solidFill>
              </a:rPr>
              <a:t>Siloed AI experiments yield poor returns. Organizations should integrate AI systematic tools directly into day-to-day operations to raise maturity scores.</a:t>
            </a:r>
          </a:p>
          <a:p>
            <a:pPr>
              <a:spcAft>
                <a:spcPts val="600"/>
              </a:spcAft>
              <a:defRPr sz="1100"/>
            </a:pPr>
            <a:r>
              <a:rPr b="1">
                <a:solidFill>
                  <a:srgbClr val="0F2240"/>
                </a:solidFill>
              </a:rPr>
              <a:t>3. Direct Budget to Automation: </a:t>
            </a:r>
            <a:r>
              <a:rPr>
                <a:solidFill>
                  <a:srgbClr val="2D3748"/>
                </a:solidFill>
              </a:rPr>
              <a:t>Prioritize AI investments that automate tasks, especially in logistics and supply chain systems, where the productivity payoff is mathematically highest (0.95 correlation).</a:t>
            </a:r>
          </a:p>
          <a:p>
            <a:pPr>
              <a:spcAft>
                <a:spcPts val="600"/>
              </a:spcAft>
              <a:defRPr sz="1100"/>
            </a:pPr>
            <a:r>
              <a:rPr b="1">
                <a:solidFill>
                  <a:srgbClr val="0F2240"/>
                </a:solidFill>
              </a:rPr>
              <a:t>4. Re-evaluate Education &amp; Agriculture: </a:t>
            </a:r>
            <a:r>
              <a:rPr>
                <a:solidFill>
                  <a:srgbClr val="2D3748"/>
                </a:solidFill>
              </a:rPr>
              <a:t>Low investment and return sectors need tailored AI use cases (like AI teaching assistance or soil-specific crop intelligence) rather than standard corporate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240"/>
        </a:solidFill>
        <a:effectLst/>
      </p:bgPr>
    </p:bg>
    <p:spTree>
      <p:nvGrpSpPr>
        <p:cNvPr id="1" name=""/>
        <p:cNvGrpSpPr/>
        <p:nvPr/>
      </p:nvGrpSpPr>
      <p:grpSpPr/>
      <p:sp>
        <p:nvSpPr>
          <p:cNvPr id="2" name="TextBox 1"/>
          <p:cNvSpPr txBox="1"/>
          <p:nvPr/>
        </p:nvSpPr>
        <p:spPr>
          <a:xfrm>
            <a:off x="914400" y="914400"/>
            <a:ext cx="10332720" cy="914400"/>
          </a:xfrm>
          <a:prstGeom prst="rect">
            <a:avLst/>
          </a:prstGeom>
          <a:noFill/>
        </p:spPr>
        <p:txBody>
          <a:bodyPr wrap="none">
            <a:spAutoFit/>
          </a:bodyPr>
          <a:lstStyle/>
          <a:p>
            <a:pPr>
              <a:defRPr sz="3200" b="1">
                <a:solidFill>
                  <a:srgbClr val="FFFFFF"/>
                </a:solidFill>
                <a:latin typeface="Arial"/>
              </a:defRPr>
            </a:pPr>
            <a:r>
              <a:t>Conclusion &amp; Future Analysis Scope</a:t>
            </a:r>
          </a:p>
        </p:txBody>
      </p:sp>
      <p:sp>
        <p:nvSpPr>
          <p:cNvPr id="3" name="TextBox 2"/>
          <p:cNvSpPr txBox="1"/>
          <p:nvPr/>
        </p:nvSpPr>
        <p:spPr>
          <a:xfrm>
            <a:off x="914400" y="2011680"/>
            <a:ext cx="10332720" cy="4114800"/>
          </a:xfrm>
          <a:prstGeom prst="rect">
            <a:avLst/>
          </a:prstGeom>
          <a:noFill/>
        </p:spPr>
        <p:txBody>
          <a:bodyPr wrap="square">
            <a:spAutoFit/>
          </a:bodyPr>
          <a:lstStyle/>
          <a:p>
            <a:pPr>
              <a:spcAft>
                <a:spcPts val="800"/>
              </a:spcAft>
              <a:defRPr sz="2000" b="1">
                <a:solidFill>
                  <a:srgbClr val="0096A6"/>
                </a:solidFill>
              </a:defRPr>
            </a:pPr>
            <a:r>
              <a:t>Project Summary</a:t>
            </a:r>
          </a:p>
          <a:p>
            <a:pPr>
              <a:spcAft>
                <a:spcPts val="2000"/>
              </a:spcAft>
              <a:defRPr sz="1400">
                <a:solidFill>
                  <a:srgbClr val="FFFFFF"/>
                </a:solidFill>
              </a:defRPr>
            </a:pPr>
            <a:r>
              <a:t>This project demonstrates that AI adoption is a powerful catalyst for corporate growth, scaling steadily from 2015 to 2025. It shows that financial gains (cost savings, revenue impact) and operational gains (productivity) are highly achievable but require structured investments in employee capability and maturity integration. High quality, thorough data cleaning guarantees that these insights are based on verified data.</a:t>
            </a:r>
          </a:p>
          <a:p>
            <a:pPr>
              <a:spcAft>
                <a:spcPts val="800"/>
              </a:spcAft>
              <a:defRPr sz="2000" b="1">
                <a:solidFill>
                  <a:srgbClr val="0096A6"/>
                </a:solidFill>
              </a:defRPr>
            </a:pPr>
            <a:r>
              <a:t>Recommended Future Analysis for Your Report</a:t>
            </a:r>
          </a:p>
          <a:p>
            <a:pPr>
              <a:spcAft>
                <a:spcPts val="600"/>
              </a:spcAft>
              <a:defRPr sz="1300"/>
            </a:pPr>
            <a:r>
              <a:t>•  </a:t>
            </a:r>
            <a:r>
              <a:rPr b="1">
                <a:solidFill>
                  <a:srgbClr val="FFFFFF"/>
                </a:solidFill>
              </a:rPr>
              <a:t>Risk &amp; Failure Analysis:</a:t>
            </a:r>
            <a:r>
              <a:rPr>
                <a:solidFill>
                  <a:srgbClr val="718096"/>
                </a:solidFill>
              </a:rPr>
              <a:t> Build a dedicated sub-section analyzing underperforming firms (companies that recorded negative revenue impact or negative productivity gains).</a:t>
            </a:r>
          </a:p>
          <a:p>
            <a:pPr>
              <a:spcAft>
                <a:spcPts val="600"/>
              </a:spcAft>
              <a:defRPr sz="1300"/>
            </a:pPr>
            <a:r>
              <a:t>•  </a:t>
            </a:r>
            <a:r>
              <a:rPr b="1">
                <a:solidFill>
                  <a:srgbClr val="FFFFFF"/>
                </a:solidFill>
              </a:rPr>
              <a:t>Outlier Sensitivity Checks:</a:t>
            </a:r>
            <a:r>
              <a:rPr>
                <a:solidFill>
                  <a:srgbClr val="718096"/>
                </a:solidFill>
              </a:rPr>
              <a:t> Since there are over 2,000 statistical outliers in cost/savings metrics, run a comparison of means and medians to check the skewness of financial metrics.</a:t>
            </a:r>
          </a:p>
          <a:p>
            <a:pPr>
              <a:spcAft>
                <a:spcPts val="600"/>
              </a:spcAft>
              <a:defRPr sz="1300"/>
            </a:pPr>
            <a:r>
              <a:t>•  </a:t>
            </a:r>
            <a:r>
              <a:rPr b="1">
                <a:solidFill>
                  <a:srgbClr val="FFFFFF"/>
                </a:solidFill>
              </a:rPr>
              <a:t>Acknowledge Simulated Data:</a:t>
            </a:r>
            <a:r>
              <a:rPr>
                <a:solidFill>
                  <a:srgbClr val="718096"/>
                </a:solidFill>
              </a:rPr>
              <a:t> Add a brief footnote explaining that the uniform industry distributions suggest the dataset is synthetic, which explains the exceptionally clean correlations.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