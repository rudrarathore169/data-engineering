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240"/>
        </a:solidFill>
        <a:effectLst/>
      </p:bgPr>
    </p:bg>
    <p:spTree>
      <p:nvGrpSpPr>
        <p:cNvPr id="1" name=""/>
        <p:cNvGrpSpPr/>
        <p:nvPr/>
      </p:nvGrpSpPr>
      <p:grpSpPr/>
      <p:sp>
        <p:nvSpPr>
          <p:cNvPr id="2" name="TextBox 1"/>
          <p:cNvSpPr txBox="1"/>
          <p:nvPr/>
        </p:nvSpPr>
        <p:spPr>
          <a:xfrm>
            <a:off x="914400" y="2011680"/>
            <a:ext cx="10332720" cy="2743200"/>
          </a:xfrm>
          <a:prstGeom prst="rect">
            <a:avLst/>
          </a:prstGeom>
          <a:noFill/>
        </p:spPr>
        <p:txBody>
          <a:bodyPr wrap="square">
            <a:spAutoFit/>
          </a:bodyPr>
          <a:lstStyle/>
          <a:p>
            <a:pPr algn="l">
              <a:defRPr sz="4600" b="1">
                <a:solidFill>
                  <a:srgbClr val="FFFFFF"/>
                </a:solidFill>
                <a:latin typeface="Arial"/>
              </a:defRPr>
            </a:pPr>
            <a:r>
              <a:t>The Business Impact of AI Adoption</a:t>
            </a:r>
          </a:p>
          <a:p>
            <a:pPr>
              <a:spcBef>
                <a:spcPts val="1500"/>
              </a:spcBef>
              <a:defRPr sz="2000">
                <a:solidFill>
                  <a:srgbClr val="0096A6"/>
                </a:solidFill>
                <a:latin typeface="Arial"/>
              </a:defRPr>
            </a:pPr>
            <a:r>
              <a:t>A Corporate Data Cleaning &amp; Exploratory Data Analysis (EDA) Project</a:t>
            </a:r>
          </a:p>
        </p:txBody>
      </p:sp>
      <p:sp>
        <p:nvSpPr>
          <p:cNvPr id="3" name="TextBox 2"/>
          <p:cNvSpPr txBox="1"/>
          <p:nvPr/>
        </p:nvSpPr>
        <p:spPr>
          <a:xfrm>
            <a:off x="914400" y="5303520"/>
            <a:ext cx="10332720" cy="914400"/>
          </a:xfrm>
          <a:prstGeom prst="rect">
            <a:avLst/>
          </a:prstGeom>
          <a:noFill/>
        </p:spPr>
        <p:txBody>
          <a:bodyPr wrap="none">
            <a:spAutoFit/>
          </a:bodyPr>
          <a:lstStyle/>
          <a:p>
            <a:pPr>
              <a:defRPr sz="1300">
                <a:solidFill>
                  <a:srgbClr val="718096"/>
                </a:solidFill>
                <a:latin typeface="Arial"/>
              </a:defRPr>
            </a:pPr>
            <a:r>
              <a:t>Analyzing 100K+ Company Observations (2015-2025)</a:t>
            </a:r>
            <a:br/>
            <a:r>
              <a:t>Presented by Rudra Pratap Singh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EDA &amp; DATA CLEANING PROJECT</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Project Overview &amp; Objectives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1000"/>
              </a:spcAft>
              <a:defRPr sz="2000" b="1">
                <a:solidFill>
                  <a:srgbClr val="0F2240"/>
                </a:solidFill>
                <a:latin typeface="Arial"/>
              </a:defRPr>
            </a:pPr>
            <a:r>
              <a:t>Project Scope</a:t>
            </a:r>
          </a:p>
          <a:p>
            <a:pPr>
              <a:spcAft>
                <a:spcPts val="1200"/>
              </a:spcAft>
              <a:defRPr sz="1400">
                <a:solidFill>
                  <a:srgbClr val="2D3748"/>
                </a:solidFill>
                <a:latin typeface="Arial"/>
              </a:defRPr>
            </a:pPr>
            <a:r>
              <a:t>•  Chronological Horizon: 2015 to 2025</a:t>
            </a:r>
          </a:p>
          <a:p>
            <a:pPr>
              <a:spcAft>
                <a:spcPts val="1200"/>
              </a:spcAft>
              <a:defRPr sz="1400">
                <a:solidFill>
                  <a:srgbClr val="2D3748"/>
                </a:solidFill>
                <a:latin typeface="Arial"/>
              </a:defRPr>
            </a:pPr>
            <a:r>
              <a:t>•  Industry Representation: 10 Distinct Sectors (Tech, Finance, Health, Mfg, energy, etc.)</a:t>
            </a:r>
          </a:p>
          <a:p>
            <a:pPr>
              <a:spcAft>
                <a:spcPts val="1200"/>
              </a:spcAft>
              <a:defRPr sz="1400">
                <a:solidFill>
                  <a:srgbClr val="2D3748"/>
                </a:solidFill>
                <a:latin typeface="Arial"/>
              </a:defRPr>
            </a:pPr>
            <a:r>
              <a:t>•  National Diversity: 15 Countries (USA, China, Singapore, Germany, Brazil, India, etc.)</a:t>
            </a:r>
          </a:p>
          <a:p>
            <a:pPr>
              <a:spcAft>
                <a:spcPts val="1200"/>
              </a:spcAft>
              <a:defRPr sz="1400">
                <a:solidFill>
                  <a:srgbClr val="2D3748"/>
                </a:solidFill>
                <a:latin typeface="Arial"/>
              </a:defRPr>
            </a:pPr>
            <a:r>
              <a:t>•  Target Population: 104,845 total corporate observations tracked over a decade.</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1000"/>
              </a:spcAft>
              <a:defRPr sz="2000" b="1">
                <a:solidFill>
                  <a:srgbClr val="0F2240"/>
                </a:solidFill>
                <a:latin typeface="Arial"/>
              </a:defRPr>
            </a:pPr>
            <a:r>
              <a:t>Core Objectives</a:t>
            </a:r>
          </a:p>
          <a:p>
            <a:pPr>
              <a:spcAft>
                <a:spcPts val="1200"/>
              </a:spcAft>
              <a:defRPr sz="1400">
                <a:solidFill>
                  <a:srgbClr val="2D3748"/>
                </a:solidFill>
                <a:latin typeface="Arial"/>
              </a:defRPr>
            </a:pPr>
            <a:r>
              <a:t>✔  </a:t>
            </a:r>
            <a:r>
              <a:rPr b="1">
                <a:solidFill>
                  <a:srgbClr val="0F2240"/>
                </a:solidFill>
              </a:rPr>
              <a:t>Validate and Clean Raw Corporate Data:</a:t>
            </a:r>
            <a:r>
              <a:rPr>
                <a:solidFill>
                  <a:srgbClr val="2D3748"/>
                </a:solidFill>
              </a:rPr>
              <a:t> Check integrity, identify nulls/duplicates, and detect statistical anomalies.</a:t>
            </a:r>
          </a:p>
          <a:p>
            <a:pPr>
              <a:spcAft>
                <a:spcPts val="1200"/>
              </a:spcAft>
              <a:defRPr sz="1400">
                <a:solidFill>
                  <a:srgbClr val="2D3748"/>
                </a:solidFill>
                <a:latin typeface="Arial"/>
              </a:defRPr>
            </a:pPr>
            <a:r>
              <a:t>✔  </a:t>
            </a:r>
            <a:r>
              <a:rPr b="1">
                <a:solidFill>
                  <a:srgbClr val="0F2240"/>
                </a:solidFill>
              </a:rPr>
              <a:t>Perform Extensive EDA:</a:t>
            </a:r>
            <a:r>
              <a:rPr>
                <a:solidFill>
                  <a:srgbClr val="2D3748"/>
                </a:solidFill>
              </a:rPr>
              <a:t> Analyze trends, industry-specific adoption rates, and investment differences.</a:t>
            </a:r>
          </a:p>
          <a:p>
            <a:pPr>
              <a:spcAft>
                <a:spcPts val="1200"/>
              </a:spcAft>
              <a:defRPr sz="1400">
                <a:solidFill>
                  <a:srgbClr val="2D3748"/>
                </a:solidFill>
                <a:latin typeface="Arial"/>
              </a:defRPr>
            </a:pPr>
            <a:r>
              <a:t>✔  </a:t>
            </a:r>
            <a:r>
              <a:rPr b="1">
                <a:solidFill>
                  <a:srgbClr val="0F2240"/>
                </a:solidFill>
              </a:rPr>
              <a:t>Identify Growth Drivers:</a:t>
            </a:r>
            <a:r>
              <a:rPr>
                <a:solidFill>
                  <a:srgbClr val="2D3748"/>
                </a:solidFill>
              </a:rPr>
              <a:t> Highlight statistical correlations between training, maturity, automation, and performance.</a:t>
            </a:r>
          </a:p>
          <a:p>
            <a:pPr>
              <a:spcAft>
                <a:spcPts val="1200"/>
              </a:spcAft>
              <a:defRPr sz="1400">
                <a:solidFill>
                  <a:srgbClr val="2D3748"/>
                </a:solidFill>
                <a:latin typeface="Arial"/>
              </a:defRPr>
            </a:pPr>
            <a:r>
              <a:t>✔  </a:t>
            </a:r>
            <a:r>
              <a:rPr b="1">
                <a:solidFill>
                  <a:srgbClr val="0F2240"/>
                </a:solidFill>
              </a:rPr>
              <a:t>Provide Strategic Insights:</a:t>
            </a:r>
            <a:r>
              <a:rPr>
                <a:solidFill>
                  <a:srgbClr val="2D3748"/>
                </a:solidFill>
              </a:rPr>
              <a:t> Support business leaders in maximizing productivity and financial returns on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EDA &amp; DATA CLEANING PROJECT</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The Raw Dataset (What Data We Got)</a:t>
            </a:r>
          </a:p>
        </p:txBody>
      </p:sp>
      <p:sp>
        <p:nvSpPr>
          <p:cNvPr id="4" name="Rounded Rectangle 3"/>
          <p:cNvSpPr/>
          <p:nvPr/>
        </p:nvSpPr>
        <p:spPr>
          <a:xfrm>
            <a:off x="731520" y="1463040"/>
            <a:ext cx="41148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3566160" cy="4114800"/>
          </a:xfrm>
          <a:prstGeom prst="rect">
            <a:avLst/>
          </a:prstGeom>
          <a:noFill/>
        </p:spPr>
        <p:txBody>
          <a:bodyPr wrap="square">
            <a:spAutoFit/>
          </a:bodyPr>
          <a:lstStyle/>
          <a:p>
            <a:pPr>
              <a:spcAft>
                <a:spcPts val="1500"/>
              </a:spcAft>
              <a:defRPr sz="2000" b="1">
                <a:solidFill>
                  <a:srgbClr val="0F2240"/>
                </a:solidFill>
                <a:latin typeface="Arial"/>
              </a:defRPr>
            </a:pPr>
            <a:r>
              <a:t>Dataset Characteristics</a:t>
            </a:r>
          </a:p>
          <a:p>
            <a:pPr>
              <a:spcAft>
                <a:spcPts val="1000"/>
              </a:spcAft>
              <a:defRPr sz="1400"/>
            </a:pPr>
            <a:r>
              <a:rPr b="1">
                <a:solidFill>
                  <a:srgbClr val="0F2240"/>
                </a:solidFill>
              </a:rPr>
              <a:t>Total Records: </a:t>
            </a:r>
            <a:r>
              <a:rPr>
                <a:solidFill>
                  <a:srgbClr val="0096A6"/>
                </a:solidFill>
              </a:rPr>
              <a:t>104,845 rows</a:t>
            </a:r>
          </a:p>
          <a:p>
            <a:pPr>
              <a:spcAft>
                <a:spcPts val="1000"/>
              </a:spcAft>
              <a:defRPr sz="1400"/>
            </a:pPr>
            <a:r>
              <a:rPr b="1">
                <a:solidFill>
                  <a:srgbClr val="0F2240"/>
                </a:solidFill>
              </a:rPr>
              <a:t>Total Features: </a:t>
            </a:r>
            <a:r>
              <a:rPr>
                <a:solidFill>
                  <a:srgbClr val="2D3748"/>
                </a:solidFill>
              </a:rPr>
              <a:t>13 columns</a:t>
            </a:r>
          </a:p>
          <a:p>
            <a:pPr>
              <a:spcAft>
                <a:spcPts val="1000"/>
              </a:spcAft>
              <a:defRPr sz="1400"/>
            </a:pPr>
            <a:r>
              <a:rPr b="1">
                <a:solidFill>
                  <a:srgbClr val="0F2240"/>
                </a:solidFill>
              </a:rPr>
              <a:t>Missing Values: </a:t>
            </a:r>
            <a:r>
              <a:rPr>
                <a:solidFill>
                  <a:srgbClr val="0096A6"/>
                </a:solidFill>
              </a:rPr>
              <a:t>0 (100% complete)</a:t>
            </a:r>
          </a:p>
          <a:p>
            <a:pPr>
              <a:spcAft>
                <a:spcPts val="1000"/>
              </a:spcAft>
              <a:defRPr sz="1400"/>
            </a:pPr>
            <a:r>
              <a:rPr b="1">
                <a:solidFill>
                  <a:srgbClr val="0F2240"/>
                </a:solidFill>
              </a:rPr>
              <a:t>Duplicates: </a:t>
            </a:r>
            <a:r>
              <a:rPr>
                <a:solidFill>
                  <a:srgbClr val="0096A6"/>
                </a:solidFill>
              </a:rPr>
              <a:t>0 duplicate rows</a:t>
            </a:r>
          </a:p>
          <a:p>
            <a:pPr>
              <a:spcAft>
                <a:spcPts val="1000"/>
              </a:spcAft>
              <a:defRPr sz="1400"/>
            </a:pPr>
            <a:r>
              <a:rPr b="1">
                <a:solidFill>
                  <a:srgbClr val="0F2240"/>
                </a:solidFill>
              </a:rPr>
              <a:t>Observation Years: </a:t>
            </a:r>
            <a:r>
              <a:rPr>
                <a:solidFill>
                  <a:srgbClr val="0096A6"/>
                </a:solidFill>
              </a:rPr>
              <a:t>2015 – 2025</a:t>
            </a:r>
          </a:p>
        </p:txBody>
      </p:sp>
      <p:sp>
        <p:nvSpPr>
          <p:cNvPr id="6" name="Rounded Rectangle 5"/>
          <p:cNvSpPr/>
          <p:nvPr/>
        </p:nvSpPr>
        <p:spPr>
          <a:xfrm>
            <a:off x="5303520" y="1463040"/>
            <a:ext cx="61264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1645920"/>
            <a:ext cx="5577840" cy="4114800"/>
          </a:xfrm>
          <a:prstGeom prst="rect">
            <a:avLst/>
          </a:prstGeom>
          <a:noFill/>
        </p:spPr>
        <p:txBody>
          <a:bodyPr wrap="square">
            <a:spAutoFit/>
          </a:bodyPr>
          <a:lstStyle/>
          <a:p>
            <a:pPr>
              <a:spcAft>
                <a:spcPts val="1000"/>
              </a:spcAft>
              <a:defRPr sz="2000" b="1">
                <a:solidFill>
                  <a:srgbClr val="0F2240"/>
                </a:solidFill>
                <a:latin typeface="Arial"/>
              </a:defRPr>
            </a:pPr>
            <a:r>
              <a:t>Variables &amp; Metrics Captured</a:t>
            </a:r>
          </a:p>
          <a:p>
            <a:pPr>
              <a:spcAft>
                <a:spcPts val="600"/>
              </a:spcAft>
              <a:defRPr sz="1300"/>
            </a:pPr>
            <a:r>
              <a:t>•  </a:t>
            </a:r>
            <a:r>
              <a:rPr b="1">
                <a:solidFill>
                  <a:srgbClr val="0096A6"/>
                </a:solidFill>
              </a:rPr>
              <a:t>company_id, industry, country</a:t>
            </a:r>
            <a:r>
              <a:rPr>
                <a:solidFill>
                  <a:srgbClr val="2D3748"/>
                </a:solidFill>
              </a:rPr>
              <a:t> (Identifiers &amp; demographics)</a:t>
            </a:r>
          </a:p>
          <a:p>
            <a:pPr>
              <a:spcAft>
                <a:spcPts val="600"/>
              </a:spcAft>
              <a:defRPr sz="1300"/>
            </a:pPr>
            <a:r>
              <a:t>•  </a:t>
            </a:r>
            <a:r>
              <a:rPr b="1">
                <a:solidFill>
                  <a:srgbClr val="0096A6"/>
                </a:solidFill>
              </a:rPr>
              <a:t>year, ai_adoption_level</a:t>
            </a:r>
            <a:r>
              <a:rPr>
                <a:solidFill>
                  <a:srgbClr val="2D3748"/>
                </a:solidFill>
              </a:rPr>
              <a:t> (Temporal tracking &amp; adoption scale)</a:t>
            </a:r>
          </a:p>
          <a:p>
            <a:pPr>
              <a:spcAft>
                <a:spcPts val="600"/>
              </a:spcAft>
              <a:defRPr sz="1300"/>
            </a:pPr>
            <a:r>
              <a:t>•  </a:t>
            </a:r>
            <a:r>
              <a:rPr b="1">
                <a:solidFill>
                  <a:srgbClr val="0096A6"/>
                </a:solidFill>
              </a:rPr>
              <a:t>ai_investment_usd</a:t>
            </a:r>
            <a:r>
              <a:rPr>
                <a:solidFill>
                  <a:srgbClr val="2D3748"/>
                </a:solidFill>
              </a:rPr>
              <a:t> (Financial input (USD))</a:t>
            </a:r>
          </a:p>
          <a:p>
            <a:pPr>
              <a:spcAft>
                <a:spcPts val="600"/>
              </a:spcAft>
              <a:defRPr sz="1300"/>
            </a:pPr>
            <a:r>
              <a:t>•  </a:t>
            </a:r>
            <a:r>
              <a:rPr b="1">
                <a:solidFill>
                  <a:srgbClr val="0096A6"/>
                </a:solidFill>
              </a:rPr>
              <a:t>cost_savings, revenue_impact</a:t>
            </a:r>
            <a:r>
              <a:rPr>
                <a:solidFill>
                  <a:srgbClr val="2D3748"/>
                </a:solidFill>
              </a:rPr>
              <a:t> (Financial returns / outcomes)</a:t>
            </a:r>
          </a:p>
          <a:p>
            <a:pPr>
              <a:spcAft>
                <a:spcPts val="600"/>
              </a:spcAft>
              <a:defRPr sz="1300"/>
            </a:pPr>
            <a:r>
              <a:t>•  </a:t>
            </a:r>
            <a:r>
              <a:rPr b="1">
                <a:solidFill>
                  <a:srgbClr val="0096A6"/>
                </a:solidFill>
              </a:rPr>
              <a:t>automation_rate, productivity_gain</a:t>
            </a:r>
            <a:r>
              <a:rPr>
                <a:solidFill>
                  <a:srgbClr val="2D3748"/>
                </a:solidFill>
              </a:rPr>
              <a:t> (Process and efficiency gains)</a:t>
            </a:r>
          </a:p>
          <a:p>
            <a:pPr>
              <a:spcAft>
                <a:spcPts val="600"/>
              </a:spcAft>
              <a:defRPr sz="1300"/>
            </a:pPr>
            <a:r>
              <a:t>•  </a:t>
            </a:r>
            <a:r>
              <a:rPr b="1">
                <a:solidFill>
                  <a:srgbClr val="0096A6"/>
                </a:solidFill>
              </a:rPr>
              <a:t>employee_ai_training_hours</a:t>
            </a:r>
            <a:r>
              <a:rPr>
                <a:solidFill>
                  <a:srgbClr val="2D3748"/>
                </a:solidFill>
              </a:rPr>
              <a:t> (Human capital development input)</a:t>
            </a:r>
          </a:p>
          <a:p>
            <a:pPr>
              <a:spcAft>
                <a:spcPts val="600"/>
              </a:spcAft>
              <a:defRPr sz="1300"/>
            </a:pPr>
            <a:r>
              <a:t>•  </a:t>
            </a:r>
            <a:r>
              <a:rPr b="1">
                <a:solidFill>
                  <a:srgbClr val="0096A6"/>
                </a:solidFill>
              </a:rPr>
              <a:t>ai_maturity_score, deployment_count</a:t>
            </a:r>
            <a:r>
              <a:rPr>
                <a:solidFill>
                  <a:srgbClr val="2D3748"/>
                </a:solidFill>
              </a:rPr>
              <a:t> (Capability maturity &amp; scaling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EDA &amp; DATA CLEANING PROJECT</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Data Cleaning &amp; Preprocessing (Changes Made)</a:t>
            </a:r>
          </a:p>
        </p:txBody>
      </p:sp>
      <p:sp>
        <p:nvSpPr>
          <p:cNvPr id="4" name="Rounded Rectangle 3"/>
          <p:cNvSpPr/>
          <p:nvPr/>
        </p:nvSpPr>
        <p:spPr>
          <a:xfrm>
            <a:off x="731520" y="146304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206240"/>
          </a:xfrm>
          <a:prstGeom prst="rect">
            <a:avLst/>
          </a:prstGeom>
          <a:noFill/>
        </p:spPr>
        <p:txBody>
          <a:bodyPr wrap="square">
            <a:spAutoFit/>
          </a:bodyPr>
          <a:lstStyle/>
          <a:p>
            <a:pPr>
              <a:spcAft>
                <a:spcPts val="1200"/>
              </a:spcAft>
              <a:defRPr sz="1800" b="1">
                <a:solidFill>
                  <a:srgbClr val="0F2240"/>
                </a:solidFill>
              </a:defRPr>
            </a:pPr>
            <a:r>
              <a:t>1. Data Validation</a:t>
            </a:r>
          </a:p>
          <a:p>
            <a:pPr>
              <a:spcAft>
                <a:spcPts val="800"/>
              </a:spcAft>
              <a:defRPr sz="1300"/>
            </a:pPr>
            <a:r>
              <a:t>•  </a:t>
            </a:r>
            <a:r>
              <a:rPr b="1">
                <a:solidFill>
                  <a:srgbClr val="0F2240"/>
                </a:solidFill>
              </a:rPr>
              <a:t>Nulls Checked:</a:t>
            </a:r>
            <a:r>
              <a:rPr>
                <a:solidFill>
                  <a:srgbClr val="2D3748"/>
                </a:solidFill>
              </a:rPr>
              <a:t> Evaluated all 13 columns using df.isnull().sum(). Zero missing values found.</a:t>
            </a:r>
          </a:p>
          <a:p>
            <a:pPr>
              <a:spcAft>
                <a:spcPts val="800"/>
              </a:spcAft>
              <a:defRPr sz="1300"/>
            </a:pPr>
            <a:r>
              <a:t>•  </a:t>
            </a:r>
            <a:r>
              <a:rPr b="1">
                <a:solidFill>
                  <a:srgbClr val="0F2240"/>
                </a:solidFill>
              </a:rPr>
              <a:t>Duplicates Checked:</a:t>
            </a:r>
            <a:r>
              <a:rPr>
                <a:solidFill>
                  <a:srgbClr val="2D3748"/>
                </a:solidFill>
              </a:rPr>
              <a:t> Verified row integrity using df.duplicated().sum(). No duplicate rows present.</a:t>
            </a:r>
          </a:p>
          <a:p>
            <a:pPr>
              <a:spcAft>
                <a:spcPts val="800"/>
              </a:spcAft>
              <a:defRPr sz="1300"/>
            </a:pPr>
            <a:r>
              <a:t>•  </a:t>
            </a:r>
            <a:r>
              <a:rPr b="1">
                <a:solidFill>
                  <a:srgbClr val="0F2240"/>
                </a:solidFill>
              </a:rPr>
              <a:t>Schema Verified:</a:t>
            </a:r>
            <a:r>
              <a:rPr>
                <a:solidFill>
                  <a:srgbClr val="2D3748"/>
                </a:solidFill>
              </a:rPr>
              <a:t> Confirmed correct data types (5 floats, 5 integers, 3 objects).</a:t>
            </a:r>
          </a:p>
        </p:txBody>
      </p:sp>
      <p:sp>
        <p:nvSpPr>
          <p:cNvPr id="6" name="Rounded Rectangle 5"/>
          <p:cNvSpPr/>
          <p:nvPr/>
        </p:nvSpPr>
        <p:spPr>
          <a:xfrm>
            <a:off x="4389120" y="146304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2926080" cy="4206240"/>
          </a:xfrm>
          <a:prstGeom prst="rect">
            <a:avLst/>
          </a:prstGeom>
          <a:noFill/>
        </p:spPr>
        <p:txBody>
          <a:bodyPr wrap="square">
            <a:spAutoFit/>
          </a:bodyPr>
          <a:lstStyle/>
          <a:p>
            <a:pPr>
              <a:spcAft>
                <a:spcPts val="1200"/>
              </a:spcAft>
              <a:defRPr sz="1800" b="1">
                <a:solidFill>
                  <a:srgbClr val="0F2240"/>
                </a:solidFill>
              </a:defRPr>
            </a:pPr>
            <a:r>
              <a:t>2. Categorical Audit</a:t>
            </a:r>
          </a:p>
          <a:p>
            <a:pPr>
              <a:spcAft>
                <a:spcPts val="800"/>
              </a:spcAft>
              <a:defRPr sz="1300"/>
            </a:pPr>
            <a:r>
              <a:t>•  </a:t>
            </a:r>
            <a:r>
              <a:rPr b="1">
                <a:solidFill>
                  <a:srgbClr val="0F2240"/>
                </a:solidFill>
              </a:rPr>
              <a:t>Industry Categories:</a:t>
            </a:r>
            <a:r>
              <a:rPr>
                <a:solidFill>
                  <a:srgbClr val="2D3748"/>
                </a:solidFill>
              </a:rPr>
              <a:t> Audited all 10 unique industries for text inconsistencies. All standard.</a:t>
            </a:r>
          </a:p>
          <a:p>
            <a:pPr>
              <a:spcAft>
                <a:spcPts val="800"/>
              </a:spcAft>
              <a:defRPr sz="1300"/>
            </a:pPr>
            <a:r>
              <a:t>•  </a:t>
            </a:r>
            <a:r>
              <a:rPr b="1">
                <a:solidFill>
                  <a:srgbClr val="0F2240"/>
                </a:solidFill>
              </a:rPr>
              <a:t>Country Demographics:</a:t>
            </a:r>
            <a:r>
              <a:rPr>
                <a:solidFill>
                  <a:srgbClr val="2D3748"/>
                </a:solidFill>
              </a:rPr>
              <a:t> Audited all 15 unique countries. Verified zero spelling variants or duplicates.</a:t>
            </a:r>
          </a:p>
          <a:p>
            <a:pPr>
              <a:spcAft>
                <a:spcPts val="800"/>
              </a:spcAft>
              <a:defRPr sz="1300"/>
            </a:pPr>
            <a:r>
              <a:t>•  </a:t>
            </a:r>
            <a:r>
              <a:rPr b="1">
                <a:solidFill>
                  <a:srgbClr val="0F2240"/>
                </a:solidFill>
              </a:rPr>
              <a:t>Case Standardizing:</a:t>
            </a:r>
            <a:r>
              <a:rPr>
                <a:solidFill>
                  <a:srgbClr val="2D3748"/>
                </a:solidFill>
              </a:rPr>
              <a:t> Column names confirmed in consistent, lowercase snake_case.</a:t>
            </a:r>
          </a:p>
        </p:txBody>
      </p:sp>
      <p:sp>
        <p:nvSpPr>
          <p:cNvPr id="8" name="Rounded Rectangle 7"/>
          <p:cNvSpPr/>
          <p:nvPr/>
        </p:nvSpPr>
        <p:spPr>
          <a:xfrm>
            <a:off x="8046720" y="146304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2926080" cy="4206240"/>
          </a:xfrm>
          <a:prstGeom prst="rect">
            <a:avLst/>
          </a:prstGeom>
          <a:noFill/>
        </p:spPr>
        <p:txBody>
          <a:bodyPr wrap="square">
            <a:spAutoFit/>
          </a:bodyPr>
          <a:lstStyle/>
          <a:p>
            <a:pPr>
              <a:spcAft>
                <a:spcPts val="1200"/>
              </a:spcAft>
              <a:defRPr sz="1800" b="1">
                <a:solidFill>
                  <a:srgbClr val="0F2240"/>
                </a:solidFill>
              </a:defRPr>
            </a:pPr>
            <a:r>
              <a:t>3. Outlier Strategy</a:t>
            </a:r>
          </a:p>
          <a:p>
            <a:pPr>
              <a:spcAft>
                <a:spcPts val="800"/>
              </a:spcAft>
              <a:defRPr sz="1300"/>
            </a:pPr>
            <a:r>
              <a:t>•  </a:t>
            </a:r>
            <a:r>
              <a:rPr b="1">
                <a:solidFill>
                  <a:srgbClr val="0F2240"/>
                </a:solidFill>
              </a:rPr>
              <a:t>Detection Method:</a:t>
            </a:r>
            <a:r>
              <a:rPr>
                <a:solidFill>
                  <a:srgbClr val="2D3748"/>
                </a:solidFill>
              </a:rPr>
              <a:t> Combined visual Box Plots with statistical Z-scores (abs(Z) &gt; 3).</a:t>
            </a:r>
          </a:p>
          <a:p>
            <a:pPr>
              <a:spcAft>
                <a:spcPts val="800"/>
              </a:spcAft>
              <a:defRPr sz="1300"/>
            </a:pPr>
            <a:r>
              <a:t>•  </a:t>
            </a:r>
            <a:r>
              <a:rPr b="1">
                <a:solidFill>
                  <a:srgbClr val="0F2240"/>
                </a:solidFill>
              </a:rPr>
              <a:t>Key Skew Columns:</a:t>
            </a:r>
            <a:r>
              <a:rPr>
                <a:solidFill>
                  <a:srgbClr val="2D3748"/>
                </a:solidFill>
              </a:rPr>
              <a:t> Financial features (Cost Savings, Revenue Impact, and Investment) showed the highest outlier counts.</a:t>
            </a:r>
          </a:p>
          <a:p>
            <a:pPr>
              <a:spcAft>
                <a:spcPts val="800"/>
              </a:spcAft>
              <a:defRPr sz="1300"/>
            </a:pPr>
            <a:r>
              <a:t>•  </a:t>
            </a:r>
            <a:r>
              <a:rPr b="1">
                <a:solidFill>
                  <a:srgbClr val="0F2240"/>
                </a:solidFill>
              </a:rPr>
              <a:t>Analytical Decision:</a:t>
            </a:r>
            <a:r>
              <a:rPr>
                <a:solidFill>
                  <a:srgbClr val="2D3748"/>
                </a:solidFill>
              </a:rPr>
              <a:t> Outliers kept in the dataset. They represent real business variations (large enterprises) rather than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EDA &amp; DATA CLEANING PROJECT</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Insights: AI Adoption trends &amp; Investments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1500"/>
              </a:spcAft>
              <a:defRPr sz="2000" b="1">
                <a:solidFill>
                  <a:srgbClr val="0F2240"/>
                </a:solidFill>
              </a:defRPr>
            </a:pPr>
            <a:r>
              <a:t>Chronological Growth (2015–2025)</a:t>
            </a:r>
          </a:p>
          <a:p>
            <a:pPr>
              <a:spcAft>
                <a:spcPts val="1200"/>
              </a:spcAft>
              <a:defRPr sz="1400"/>
            </a:pPr>
            <a:r>
              <a:t>📈  </a:t>
            </a:r>
            <a:r>
              <a:rPr b="1">
                <a:solidFill>
                  <a:srgbClr val="0F2240"/>
                </a:solidFill>
              </a:rPr>
              <a:t>Steady Adoption Rate:</a:t>
            </a:r>
            <a:r>
              <a:rPr>
                <a:solidFill>
                  <a:srgbClr val="2D3748"/>
                </a:solidFill>
              </a:rPr>
              <a:t> Average corporate AI adoption level grew consistently from 0.19 in 2015 to 0.53 in 2025.</a:t>
            </a:r>
          </a:p>
          <a:p>
            <a:pPr>
              <a:spcAft>
                <a:spcPts val="1200"/>
              </a:spcAft>
              <a:defRPr sz="1400"/>
            </a:pPr>
            <a:r>
              <a:t>📈  </a:t>
            </a:r>
            <a:r>
              <a:rPr b="1">
                <a:solidFill>
                  <a:srgbClr val="0F2240"/>
                </a:solidFill>
              </a:rPr>
              <a:t>No Annual Drop-offs:</a:t>
            </a:r>
            <a:r>
              <a:rPr>
                <a:solidFill>
                  <a:srgbClr val="2D3748"/>
                </a:solidFill>
              </a:rPr>
              <a:t> Shows continuous, strategic scaling of AI across business processes over the decade.</a:t>
            </a:r>
          </a:p>
          <a:p>
            <a:pPr>
              <a:spcAft>
                <a:spcPts val="1200"/>
              </a:spcAft>
              <a:defRPr sz="1400"/>
            </a:pPr>
            <a:r>
              <a:t>📈  </a:t>
            </a:r>
            <a:r>
              <a:rPr b="1">
                <a:solidFill>
                  <a:srgbClr val="0F2240"/>
                </a:solidFill>
              </a:rPr>
              <a:t>Global Standardization:</a:t>
            </a:r>
            <a:r>
              <a:rPr>
                <a:solidFill>
                  <a:srgbClr val="2D3748"/>
                </a:solidFill>
              </a:rPr>
              <a:t> AI is shifting from an experimental tool to a core strategic business capability.</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1500"/>
              </a:spcAft>
              <a:defRPr sz="2000" b="1">
                <a:solidFill>
                  <a:srgbClr val="0F2240"/>
                </a:solidFill>
              </a:defRPr>
            </a:pPr>
            <a:r>
              <a:t>AI Financial Investment Leaders</a:t>
            </a:r>
          </a:p>
          <a:p>
            <a:pPr>
              <a:spcAft>
                <a:spcPts val="800"/>
              </a:spcAft>
              <a:defRPr sz="1300"/>
            </a:pPr>
            <a:r>
              <a:t>💰  </a:t>
            </a:r>
            <a:r>
              <a:rPr b="1">
                <a:solidFill>
                  <a:srgbClr val="0F2240"/>
                </a:solidFill>
              </a:rPr>
              <a:t>Financial Services:</a:t>
            </a:r>
            <a:r>
              <a:rPr>
                <a:solidFill>
                  <a:srgbClr val="2D3748"/>
                </a:solidFill>
              </a:rPr>
              <a:t> Leads all sectors with an average AI investment exceeding $6.19 million.</a:t>
            </a:r>
          </a:p>
          <a:p>
            <a:pPr>
              <a:spcAft>
                <a:spcPts val="800"/>
              </a:spcAft>
              <a:defRPr sz="1300"/>
            </a:pPr>
            <a:r>
              <a:t>💰  </a:t>
            </a:r>
            <a:r>
              <a:rPr b="1">
                <a:solidFill>
                  <a:srgbClr val="0F2240"/>
                </a:solidFill>
              </a:rPr>
              <a:t>Technology:</a:t>
            </a:r>
            <a:r>
              <a:rPr>
                <a:solidFill>
                  <a:srgbClr val="2D3748"/>
                </a:solidFill>
              </a:rPr>
              <a:t> Ranks second with an average investment of $4.92 million.</a:t>
            </a:r>
          </a:p>
          <a:p>
            <a:pPr>
              <a:spcAft>
                <a:spcPts val="800"/>
              </a:spcAft>
              <a:defRPr sz="1300"/>
            </a:pPr>
            <a:r>
              <a:t>💰  </a:t>
            </a:r>
            <a:r>
              <a:rPr b="1">
                <a:solidFill>
                  <a:srgbClr val="0F2240"/>
                </a:solidFill>
              </a:rPr>
              <a:t>Education &amp; Agriculture:</a:t>
            </a:r>
            <a:r>
              <a:rPr>
                <a:solidFill>
                  <a:srgbClr val="2D3748"/>
                </a:solidFill>
              </a:rPr>
              <a:t> Invest the least, recording averages of $0.61 million and $0.85 million respectively.</a:t>
            </a:r>
          </a:p>
          <a:p>
            <a:pPr>
              <a:spcAft>
                <a:spcPts val="800"/>
              </a:spcAft>
              <a:defRPr sz="1300"/>
            </a:pPr>
            <a:r>
              <a:t>💰  </a:t>
            </a:r>
            <a:r>
              <a:rPr b="1">
                <a:solidFill>
                  <a:srgbClr val="0F2240"/>
                </a:solidFill>
              </a:rPr>
              <a:t>National Leaders:</a:t>
            </a:r>
            <a:r>
              <a:rPr>
                <a:solidFill>
                  <a:srgbClr val="2D3748"/>
                </a:solidFill>
              </a:rPr>
              <a:t> The United States records the highest national average investment ($4.64M), followed closely by Singapore and China.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EDA &amp; DATA CLEANING PROJECT</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Insights: Business Returns &amp; Productivity</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1500"/>
              </a:spcAft>
              <a:defRPr sz="2000" b="1">
                <a:solidFill>
                  <a:srgbClr val="0F2240"/>
                </a:solidFill>
              </a:defRPr>
            </a:pPr>
            <a:r>
              <a:t>Financial Returns (Cost &amp; Revenue)</a:t>
            </a:r>
          </a:p>
          <a:p>
            <a:pPr>
              <a:spcAft>
                <a:spcPts val="1000"/>
              </a:spcAft>
              <a:defRPr sz="1300"/>
            </a:pPr>
            <a:r>
              <a:t>💵  </a:t>
            </a:r>
            <a:r>
              <a:rPr b="1">
                <a:solidFill>
                  <a:srgbClr val="0F2240"/>
                </a:solidFill>
              </a:rPr>
              <a:t>Revenue Impact:</a:t>
            </a:r>
            <a:r>
              <a:rPr>
                <a:solidFill>
                  <a:srgbClr val="2D3748"/>
                </a:solidFill>
              </a:rPr>
              <a:t> Technology achieves the highest average revenue gain at $3.13 million, with Financial Services second ($2.16M).</a:t>
            </a:r>
          </a:p>
          <a:p>
            <a:pPr>
              <a:spcAft>
                <a:spcPts val="1000"/>
              </a:spcAft>
              <a:defRPr sz="1300"/>
            </a:pPr>
            <a:r>
              <a:t>💵  </a:t>
            </a:r>
            <a:r>
              <a:rPr b="1">
                <a:solidFill>
                  <a:srgbClr val="0F2240"/>
                </a:solidFill>
              </a:rPr>
              <a:t>Cost Savings:</a:t>
            </a:r>
            <a:r>
              <a:rPr>
                <a:solidFill>
                  <a:srgbClr val="2D3748"/>
                </a:solidFill>
              </a:rPr>
              <a:t> Technology also leads in cost reduction, saving $2.52 million on average. Financial Services saves $2.07M.</a:t>
            </a:r>
          </a:p>
          <a:p>
            <a:pPr>
              <a:spcAft>
                <a:spcPts val="1000"/>
              </a:spcAft>
              <a:defRPr sz="1300"/>
            </a:pPr>
            <a:r>
              <a:t>💵  </a:t>
            </a:r>
            <a:r>
              <a:rPr b="1">
                <a:solidFill>
                  <a:srgbClr val="0F2240"/>
                </a:solidFill>
              </a:rPr>
              <a:t>Lagging Sectors:</a:t>
            </a:r>
            <a:r>
              <a:rPr>
                <a:solidFill>
                  <a:srgbClr val="2D3748"/>
                </a:solidFill>
              </a:rPr>
              <a:t> Education records the lowest average revenue impact ($0.14M) and cost savings ($0.11M).</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1500"/>
              </a:spcAft>
              <a:defRPr sz="2000" b="1">
                <a:solidFill>
                  <a:srgbClr val="0F2240"/>
                </a:solidFill>
              </a:defRPr>
            </a:pPr>
            <a:r>
              <a:t>Productivity &amp; Operational Gains</a:t>
            </a:r>
          </a:p>
          <a:p>
            <a:pPr>
              <a:spcAft>
                <a:spcPts val="800"/>
              </a:spcAft>
              <a:defRPr sz="1300"/>
            </a:pPr>
            <a:r>
              <a:t>⚙  </a:t>
            </a:r>
            <a:r>
              <a:rPr b="1">
                <a:solidFill>
                  <a:srgbClr val="0F2240"/>
                </a:solidFill>
              </a:rPr>
              <a:t>Operational Winners:</a:t>
            </a:r>
            <a:r>
              <a:rPr>
                <a:solidFill>
                  <a:srgbClr val="2D3748"/>
                </a:solidFill>
              </a:rPr>
              <a:t> Manufacturing and Logistics record the highest average productivity gains (0.30 gain).</a:t>
            </a:r>
          </a:p>
          <a:p>
            <a:pPr>
              <a:spcAft>
                <a:spcPts val="800"/>
              </a:spcAft>
              <a:defRPr sz="1300"/>
            </a:pPr>
            <a:r>
              <a:t>⚙  </a:t>
            </a:r>
            <a:r>
              <a:rPr b="1">
                <a:solidFill>
                  <a:srgbClr val="0F2240"/>
                </a:solidFill>
              </a:rPr>
              <a:t>Automation-Driven:</a:t>
            </a:r>
            <a:r>
              <a:rPr>
                <a:solidFill>
                  <a:srgbClr val="2D3748"/>
                </a:solidFill>
              </a:rPr>
              <a:t> Highly physical industries achieve massive efficiency improvements by automating supply chain and production workflows.</a:t>
            </a:r>
          </a:p>
          <a:p>
            <a:pPr>
              <a:spcAft>
                <a:spcPts val="800"/>
              </a:spcAft>
              <a:defRPr sz="1300"/>
            </a:pPr>
            <a:r>
              <a:t>⚙  </a:t>
            </a:r>
            <a:r>
              <a:rPr b="1">
                <a:solidFill>
                  <a:srgbClr val="0F2240"/>
                </a:solidFill>
              </a:rPr>
              <a:t>Moderate-Gain Sectors:</a:t>
            </a:r>
            <a:r>
              <a:rPr>
                <a:solidFill>
                  <a:srgbClr val="2D3748"/>
                </a:solidFill>
              </a:rPr>
              <a:t> Education (0.21) and Healthcare (0.24) experience lower immediate productivity gains, possibly due to regulatory checks and human-intensive 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EDA &amp; DATA CLEANING PROJECT</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Strategic Correlations (Interconnected Drivers)</a:t>
            </a:r>
          </a:p>
        </p:txBody>
      </p:sp>
      <p:sp>
        <p:nvSpPr>
          <p:cNvPr id="4" name="Rounded Rectangle 3"/>
          <p:cNvSpPr/>
          <p:nvPr/>
        </p:nvSpPr>
        <p:spPr>
          <a:xfrm>
            <a:off x="731520" y="1463040"/>
            <a:ext cx="106984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206240"/>
          </a:xfrm>
          <a:prstGeom prst="rect">
            <a:avLst/>
          </a:prstGeom>
          <a:noFill/>
        </p:spPr>
        <p:txBody>
          <a:bodyPr wrap="square">
            <a:spAutoFit/>
          </a:bodyPr>
          <a:lstStyle/>
          <a:p>
            <a:pPr>
              <a:spcAft>
                <a:spcPts val="1500"/>
              </a:spcAft>
              <a:defRPr sz="2200" b="1">
                <a:solidFill>
                  <a:srgbClr val="0F2240"/>
                </a:solidFill>
              </a:defRPr>
            </a:pPr>
            <a:r>
              <a:t>What Drives Successful AI Adoption?</a:t>
            </a:r>
          </a:p>
          <a:p>
            <a:pPr>
              <a:spcAft>
                <a:spcPts val="800"/>
              </a:spcAft>
              <a:defRPr sz="1300"/>
            </a:pPr>
            <a:r>
              <a:rPr b="1">
                <a:solidFill>
                  <a:srgbClr val="0F2240"/>
                </a:solidFill>
              </a:rPr>
              <a:t>🔗  Automation Rate &amp; Productivity Gain: </a:t>
            </a:r>
            <a:r>
              <a:rPr b="1">
                <a:solidFill>
                  <a:srgbClr val="0096A6"/>
                </a:solidFill>
              </a:rPr>
              <a:t>0.95 (Very Strong)</a:t>
            </a:r>
            <a:r>
              <a:rPr>
                <a:solidFill>
                  <a:srgbClr val="2D3748"/>
                </a:solidFill>
              </a:rPr>
              <a:t> — Indicates that process automation is the primary engine of productivity improvement.</a:t>
            </a:r>
          </a:p>
          <a:p>
            <a:pPr>
              <a:spcAft>
                <a:spcPts val="800"/>
              </a:spcAft>
              <a:defRPr sz="1300"/>
            </a:pPr>
            <a:r>
              <a:rPr b="1">
                <a:solidFill>
                  <a:srgbClr val="0F2240"/>
                </a:solidFill>
              </a:rPr>
              <a:t>🔗  AI Maturity Score &amp; Deployment Count: </a:t>
            </a:r>
            <a:r>
              <a:rPr b="1">
                <a:solidFill>
                  <a:srgbClr val="0096A6"/>
                </a:solidFill>
              </a:rPr>
              <a:t>0.94 (Very Strong)</a:t>
            </a:r>
            <a:r>
              <a:rPr>
                <a:solidFill>
                  <a:srgbClr val="2D3748"/>
                </a:solidFill>
              </a:rPr>
              <a:t> — Maturity enables companies to successfully scale and manage more AI deployments.</a:t>
            </a:r>
          </a:p>
          <a:p>
            <a:pPr>
              <a:spcAft>
                <a:spcPts val="800"/>
              </a:spcAft>
              <a:defRPr sz="1300"/>
            </a:pPr>
            <a:r>
              <a:rPr b="1">
                <a:solidFill>
                  <a:srgbClr val="0F2240"/>
                </a:solidFill>
              </a:rPr>
              <a:t>🔗  Employee AI Training Hours &amp; AI Maturity: </a:t>
            </a:r>
            <a:r>
              <a:rPr b="1">
                <a:solidFill>
                  <a:srgbClr val="0096A6"/>
                </a:solidFill>
              </a:rPr>
              <a:t>0.845 (Strong)</a:t>
            </a:r>
            <a:r>
              <a:rPr>
                <a:solidFill>
                  <a:srgbClr val="2D3748"/>
                </a:solidFill>
              </a:rPr>
              <a:t> — Shows that building employee capability is essential for establishing operational AI maturity.</a:t>
            </a:r>
          </a:p>
          <a:p>
            <a:pPr>
              <a:spcAft>
                <a:spcPts val="800"/>
              </a:spcAft>
              <a:defRPr sz="1300"/>
            </a:pPr>
            <a:r>
              <a:rPr b="1">
                <a:solidFill>
                  <a:srgbClr val="0F2240"/>
                </a:solidFill>
              </a:rPr>
              <a:t>🔗  AI Investment &amp; Cost Savings: </a:t>
            </a:r>
            <a:r>
              <a:rPr b="1">
                <a:solidFill>
                  <a:srgbClr val="0096A6"/>
                </a:solidFill>
              </a:rPr>
              <a:t>0.85 (Strong)</a:t>
            </a:r>
            <a:r>
              <a:rPr>
                <a:solidFill>
                  <a:srgbClr val="2D3748"/>
                </a:solidFill>
              </a:rPr>
              <a:t> — Suggests that larger financial investments scale cost savings efficiently through infrastructure buy-in.</a:t>
            </a:r>
          </a:p>
          <a:p>
            <a:pPr>
              <a:spcBef>
                <a:spcPts val="1500"/>
              </a:spcBef>
              <a:defRPr sz="1300" b="1" i="1">
                <a:solidFill>
                  <a:srgbClr val="0F2240"/>
                </a:solidFill>
              </a:defRPr>
            </a:pPr>
            <a:r>
              <a:t>Strategic Conclusion: AI success is a holistic transformation. Simply throwing financial budget at technology without investing in employee training, process redesign, and maturity integration will not yield peak performance.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STRATEGIC RECOMMENDATIONS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Actionable Recommendations (Changes We Can Make)</a:t>
            </a:r>
          </a:p>
        </p:txBody>
      </p:sp>
      <p:sp>
        <p:nvSpPr>
          <p:cNvPr id="4" name="Rounded Rectangle 3"/>
          <p:cNvSpPr/>
          <p:nvPr/>
        </p:nvSpPr>
        <p:spPr>
          <a:xfrm>
            <a:off x="731520" y="146304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79" cy="1737360"/>
          </a:xfrm>
          <a:prstGeom prst="rect">
            <a:avLst/>
          </a:prstGeom>
          <a:noFill/>
        </p:spPr>
        <p:txBody>
          <a:bodyPr wrap="square">
            <a:spAutoFit/>
          </a:bodyPr>
          <a:lstStyle/>
          <a:p>
            <a:pPr>
              <a:spcAft>
                <a:spcPts val="600"/>
              </a:spcAft>
              <a:defRPr sz="1600" b="1">
                <a:solidFill>
                  <a:srgbClr val="0F2240"/>
                </a:solidFill>
              </a:defRPr>
            </a:pPr>
            <a:r>
              <a:t>1. Prioritize Workforce Training</a:t>
            </a:r>
          </a:p>
          <a:p>
            <a:pPr>
              <a:spcAft>
                <a:spcPts val="0"/>
              </a:spcAft>
              <a:defRPr sz="1200">
                <a:solidFill>
                  <a:srgbClr val="2D3748"/>
                </a:solidFill>
              </a:defRPr>
            </a:pPr>
            <a:r>
              <a:t>Employee training has a 0.85 correlation with AI maturity. Businesses must design formal, hands-on training pathways to accelerate adoption success rather than treating AI tools as self-explanatory.</a:t>
            </a:r>
          </a:p>
        </p:txBody>
      </p:sp>
      <p:sp>
        <p:nvSpPr>
          <p:cNvPr id="6" name="Rounded Rectangle 5"/>
          <p:cNvSpPr/>
          <p:nvPr/>
        </p:nvSpPr>
        <p:spPr>
          <a:xfrm>
            <a:off x="6309360" y="146304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79" cy="1737360"/>
          </a:xfrm>
          <a:prstGeom prst="rect">
            <a:avLst/>
          </a:prstGeom>
          <a:noFill/>
        </p:spPr>
        <p:txBody>
          <a:bodyPr wrap="square">
            <a:spAutoFit/>
          </a:bodyPr>
          <a:lstStyle/>
          <a:p>
            <a:pPr>
              <a:spcAft>
                <a:spcPts val="600"/>
              </a:spcAft>
              <a:defRPr sz="1600" b="1">
                <a:solidFill>
                  <a:srgbClr val="0F2240"/>
                </a:solidFill>
              </a:defRPr>
            </a:pPr>
            <a:r>
              <a:t>2. Avoid Siloed Implementations</a:t>
            </a:r>
          </a:p>
          <a:p>
            <a:pPr>
              <a:spcAft>
                <a:spcPts val="0"/>
              </a:spcAft>
              <a:defRPr sz="1200">
                <a:solidFill>
                  <a:srgbClr val="2D3748"/>
                </a:solidFill>
              </a:defRPr>
            </a:pPr>
            <a:r>
              <a:t>AI maturity scores are strongly tied to deployment numbers. Organizations should transition from standalone pilot projects to comprehensive process-wide integrations to build true maturity.</a:t>
            </a:r>
          </a:p>
        </p:txBody>
      </p:sp>
      <p:sp>
        <p:nvSpPr>
          <p:cNvPr id="8" name="Rounded Rectangle 7"/>
          <p:cNvSpPr/>
          <p:nvPr/>
        </p:nvSpPr>
        <p:spPr>
          <a:xfrm>
            <a:off x="731520" y="384048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4754879" cy="1737360"/>
          </a:xfrm>
          <a:prstGeom prst="rect">
            <a:avLst/>
          </a:prstGeom>
          <a:noFill/>
        </p:spPr>
        <p:txBody>
          <a:bodyPr wrap="square">
            <a:spAutoFit/>
          </a:bodyPr>
          <a:lstStyle/>
          <a:p>
            <a:pPr>
              <a:spcAft>
                <a:spcPts val="600"/>
              </a:spcAft>
              <a:defRPr sz="1600" b="1">
                <a:solidFill>
                  <a:srgbClr val="0F2240"/>
                </a:solidFill>
              </a:defRPr>
            </a:pPr>
            <a:r>
              <a:t>3. Expand Operational Automation</a:t>
            </a:r>
          </a:p>
          <a:p>
            <a:pPr>
              <a:spcAft>
                <a:spcPts val="0"/>
              </a:spcAft>
              <a:defRPr sz="1200">
                <a:solidFill>
                  <a:srgbClr val="2D3748"/>
                </a:solidFill>
              </a:defRPr>
            </a:pPr>
            <a:r>
              <a:t>Since automation correlates nearly perfectly (0.95) with productivity, focus AI spending on high-automation workflows (like logistics routing and manufacturing scheduling).</a:t>
            </a:r>
          </a:p>
        </p:txBody>
      </p:sp>
      <p:sp>
        <p:nvSpPr>
          <p:cNvPr id="10" name="Rounded Rectangle 9"/>
          <p:cNvSpPr/>
          <p:nvPr/>
        </p:nvSpPr>
        <p:spPr>
          <a:xfrm>
            <a:off x="6309360" y="3840480"/>
            <a:ext cx="51206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023360"/>
            <a:ext cx="4754879" cy="1737360"/>
          </a:xfrm>
          <a:prstGeom prst="rect">
            <a:avLst/>
          </a:prstGeom>
          <a:noFill/>
        </p:spPr>
        <p:txBody>
          <a:bodyPr wrap="square">
            <a:spAutoFit/>
          </a:bodyPr>
          <a:lstStyle/>
          <a:p>
            <a:pPr>
              <a:spcAft>
                <a:spcPts val="600"/>
              </a:spcAft>
              <a:defRPr sz="1600" b="1">
                <a:solidFill>
                  <a:srgbClr val="0F2240"/>
                </a:solidFill>
              </a:defRPr>
            </a:pPr>
            <a:r>
              <a:t>4. Customize for Low-Performing Sectors</a:t>
            </a:r>
          </a:p>
          <a:p>
            <a:pPr>
              <a:spcAft>
                <a:spcPts val="0"/>
              </a:spcAft>
              <a:defRPr sz="1200">
                <a:solidFill>
                  <a:srgbClr val="2D3748"/>
                </a:solidFill>
              </a:defRPr>
            </a:pPr>
            <a:r>
              <a:t>Industries like Education and Agriculture record low returns. These sectors need specialized, human-in-the-loop AI integrations that solve sector-specific problems instead of off-the-shelf software.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240"/>
        </a:solidFill>
        <a:effectLst/>
      </p:bgPr>
    </p:bg>
    <p:spTree>
      <p:nvGrpSpPr>
        <p:cNvPr id="1" name=""/>
        <p:cNvGrpSpPr/>
        <p:nvPr/>
      </p:nvGrpSpPr>
      <p:grpSpPr/>
      <p:sp>
        <p:nvSpPr>
          <p:cNvPr id="2" name="TextBox 1"/>
          <p:cNvSpPr txBox="1"/>
          <p:nvPr/>
        </p:nvSpPr>
        <p:spPr>
          <a:xfrm>
            <a:off x="914400" y="914400"/>
            <a:ext cx="10332720" cy="914400"/>
          </a:xfrm>
          <a:prstGeom prst="rect">
            <a:avLst/>
          </a:prstGeom>
          <a:noFill/>
        </p:spPr>
        <p:txBody>
          <a:bodyPr wrap="none">
            <a:spAutoFit/>
          </a:bodyPr>
          <a:lstStyle/>
          <a:p>
            <a:pPr>
              <a:defRPr sz="3200" b="1">
                <a:solidFill>
                  <a:srgbClr val="FFFFFF"/>
                </a:solidFill>
                <a:latin typeface="Arial"/>
              </a:defRPr>
            </a:pPr>
            <a:r>
              <a:t>Conclusion &amp; Future Analysis Scope</a:t>
            </a:r>
          </a:p>
        </p:txBody>
      </p:sp>
      <p:sp>
        <p:nvSpPr>
          <p:cNvPr id="3" name="TextBox 2"/>
          <p:cNvSpPr txBox="1"/>
          <p:nvPr/>
        </p:nvSpPr>
        <p:spPr>
          <a:xfrm>
            <a:off x="914400" y="2011680"/>
            <a:ext cx="10332720" cy="4114800"/>
          </a:xfrm>
          <a:prstGeom prst="rect">
            <a:avLst/>
          </a:prstGeom>
          <a:noFill/>
        </p:spPr>
        <p:txBody>
          <a:bodyPr wrap="square">
            <a:spAutoFit/>
          </a:bodyPr>
          <a:lstStyle/>
          <a:p>
            <a:pPr>
              <a:spcAft>
                <a:spcPts val="800"/>
              </a:spcAft>
              <a:defRPr sz="2000" b="1">
                <a:solidFill>
                  <a:srgbClr val="0096A6"/>
                </a:solidFill>
              </a:defRPr>
            </a:pPr>
            <a:r>
              <a:t>Project Summary</a:t>
            </a:r>
          </a:p>
          <a:p>
            <a:pPr>
              <a:spcAft>
                <a:spcPts val="2000"/>
              </a:spcAft>
              <a:defRPr sz="1400">
                <a:solidFill>
                  <a:srgbClr val="FFFFFF"/>
                </a:solidFill>
              </a:defRPr>
            </a:pPr>
            <a:r>
              <a:t>This project demonstrates that AI adoption is a powerful catalyst for corporate growth, scaling steadily from 2015 to 2025. It shows that financial gains (cost savings, revenue impact) and operational gains (productivity) are highly achievable but require structured investments in employee capability and maturity integration. High quality, thorough data cleaning guarantees that these insights are based on verified data.</a:t>
            </a:r>
          </a:p>
          <a:p>
            <a:pPr>
              <a:spcAft>
                <a:spcPts val="800"/>
              </a:spcAft>
              <a:defRPr sz="2000" b="1">
                <a:solidFill>
                  <a:srgbClr val="0096A6"/>
                </a:solidFill>
              </a:defRPr>
            </a:pPr>
            <a:r>
              <a:t>Recommended Future Analysis for Your Report</a:t>
            </a:r>
          </a:p>
          <a:p>
            <a:pPr>
              <a:spcAft>
                <a:spcPts val="600"/>
              </a:spcAft>
              <a:defRPr sz="1300"/>
            </a:pPr>
            <a:r>
              <a:t>•  </a:t>
            </a:r>
            <a:r>
              <a:rPr b="1">
                <a:solidFill>
                  <a:srgbClr val="FFFFFF"/>
                </a:solidFill>
              </a:rPr>
              <a:t>Risk &amp; Failure Analysis:</a:t>
            </a:r>
            <a:r>
              <a:rPr>
                <a:solidFill>
                  <a:srgbClr val="718096"/>
                </a:solidFill>
              </a:rPr>
              <a:t> Build a dedicated sub-section analyzing underperforming firms (companies that recorded negative revenue impact or negative productivity gains).</a:t>
            </a:r>
          </a:p>
          <a:p>
            <a:pPr>
              <a:spcAft>
                <a:spcPts val="600"/>
              </a:spcAft>
              <a:defRPr sz="1300"/>
            </a:pPr>
            <a:r>
              <a:t>•  </a:t>
            </a:r>
            <a:r>
              <a:rPr b="1">
                <a:solidFill>
                  <a:srgbClr val="FFFFFF"/>
                </a:solidFill>
              </a:rPr>
              <a:t>Outlier Sensitivity Checks:</a:t>
            </a:r>
            <a:r>
              <a:rPr>
                <a:solidFill>
                  <a:srgbClr val="718096"/>
                </a:solidFill>
              </a:rPr>
              <a:t> Since there are over 2,000 statistical outliers in cost/savings metrics, run a comparison of means and medians to capture typical company performance.</a:t>
            </a:r>
          </a:p>
          <a:p>
            <a:pPr>
              <a:spcAft>
                <a:spcPts val="600"/>
              </a:spcAft>
              <a:defRPr sz="1300"/>
            </a:pPr>
            <a:r>
              <a:t>•  </a:t>
            </a:r>
            <a:r>
              <a:rPr b="1">
                <a:solidFill>
                  <a:srgbClr val="FFFFFF"/>
                </a:solidFill>
              </a:rPr>
              <a:t>Acknowledge Simulated Data:</a:t>
            </a:r>
            <a:r>
              <a:rPr>
                <a:solidFill>
                  <a:srgbClr val="718096"/>
                </a:solidFill>
              </a:rPr>
              <a:t> Add a brief footnote explaining that the uniform industry distributions suggest the dataset is synthetic, which explains the exceptionally clean correlations.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