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240"/>
        </a:solidFill>
        <a:effectLst/>
      </p:bgPr>
    </p:bg>
    <p:spTree>
      <p:nvGrpSpPr>
        <p:cNvPr id="1" name=""/>
        <p:cNvGrpSpPr/>
        <p:nvPr/>
      </p:nvGrpSpPr>
      <p:grpSpPr/>
      <p:sp>
        <p:nvSpPr>
          <p:cNvPr id="2" name="TextBox 1"/>
          <p:cNvSpPr txBox="1"/>
          <p:nvPr/>
        </p:nvSpPr>
        <p:spPr>
          <a:xfrm>
            <a:off x="914400" y="1828800"/>
            <a:ext cx="10332720" cy="4114800"/>
          </a:xfrm>
          <a:prstGeom prst="rect">
            <a:avLst/>
          </a:prstGeom>
          <a:noFill/>
        </p:spPr>
        <p:txBody>
          <a:bodyPr wrap="square">
            <a:spAutoFit/>
          </a:bodyPr>
          <a:lstStyle/>
          <a:p>
            <a:pPr>
              <a:spcAft>
                <a:spcPts val="2400"/>
              </a:spcAft>
              <a:defRPr sz="4000" b="1">
                <a:solidFill>
                  <a:srgbClr val="FFFFFF"/>
                </a:solidFill>
                <a:latin typeface="Arial"/>
              </a:defRPr>
            </a:pPr>
            <a:r>
              <a:t>AI Adoption &amp; Business Performance Analysis</a:t>
            </a:r>
          </a:p>
          <a:p>
            <a:pPr>
              <a:spcAft>
                <a:spcPts val="800"/>
              </a:spcAft>
              <a:defRPr sz="1800">
                <a:solidFill>
                  <a:srgbClr val="0096A6"/>
                </a:solidFill>
                <a:latin typeface="Arial"/>
              </a:defRPr>
            </a:pPr>
            <a:r>
              <a:t>Presented By</a:t>
            </a:r>
          </a:p>
          <a:p>
            <a:pPr>
              <a:spcAft>
                <a:spcPts val="1000"/>
              </a:spcAft>
              <a:defRPr sz="2000" b="1">
                <a:solidFill>
                  <a:srgbClr val="FFFFFF"/>
                </a:solidFill>
                <a:latin typeface="Arial"/>
              </a:defRPr>
            </a:pPr>
            <a:r>
              <a:t>Rudrapratap Singh Rathore</a:t>
            </a:r>
            <a:br/>
            <a:r>
              <a:t>B.Tech CSE</a:t>
            </a:r>
            <a:br/>
            <a:r>
              <a:t>Techno India NJR Institute of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DATA CLEANING &amp; EDA</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Project Overview</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114800"/>
          </a:xfrm>
          <a:prstGeom prst="rect">
            <a:avLst/>
          </a:prstGeom>
          <a:noFill/>
        </p:spPr>
        <p:txBody>
          <a:bodyPr wrap="square">
            <a:spAutoFit/>
          </a:bodyPr>
          <a:lstStyle/>
          <a:p>
            <a:pPr>
              <a:spcAft>
                <a:spcPts val="1500"/>
              </a:spcAft>
              <a:defRPr sz="2000" b="1">
                <a:solidFill>
                  <a:srgbClr val="0F2240"/>
                </a:solidFill>
              </a:defRPr>
            </a:pPr>
            <a:r>
              <a:t>Problem Statement</a:t>
            </a:r>
          </a:p>
          <a:p>
            <a:pPr>
              <a:spcAft>
                <a:spcPts val="1500"/>
              </a:spcAft>
              <a:defRPr sz="1400">
                <a:solidFill>
                  <a:srgbClr val="2D3748"/>
                </a:solidFill>
              </a:defRPr>
            </a:pPr>
            <a:r>
              <a:t>Organizations are increasingly adopting Artificial Intelligence to improve business performance. This project analyzes AI adoption trends from 2015–2025 to understand their impact on productivity, revenue, cost savings, automation, and AI maturity.</a:t>
            </a:r>
          </a:p>
        </p:txBody>
      </p:sp>
      <p:sp>
        <p:nvSpPr>
          <p:cNvPr id="6" name="Rounded Rectangle 5"/>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645920"/>
            <a:ext cx="4572000" cy="4114800"/>
          </a:xfrm>
          <a:prstGeom prst="rect">
            <a:avLst/>
          </a:prstGeom>
          <a:noFill/>
        </p:spPr>
        <p:txBody>
          <a:bodyPr wrap="square">
            <a:spAutoFit/>
          </a:bodyPr>
          <a:lstStyle/>
          <a:p>
            <a:pPr>
              <a:spcAft>
                <a:spcPts val="1000"/>
              </a:spcAft>
              <a:defRPr sz="2000" b="1">
                <a:solidFill>
                  <a:srgbClr val="0F2240"/>
                </a:solidFill>
              </a:defRPr>
            </a:pPr>
            <a:r>
              <a:t>Project Objectives</a:t>
            </a:r>
          </a:p>
          <a:p>
            <a:pPr>
              <a:spcAft>
                <a:spcPts val="1000"/>
              </a:spcAft>
              <a:defRPr sz="1300">
                <a:solidFill>
                  <a:srgbClr val="2D3748"/>
                </a:solidFill>
              </a:defRPr>
            </a:pPr>
            <a:r>
              <a:t>✔  Evaluate AI adoption trends and business performance between 2015-2025.</a:t>
            </a:r>
          </a:p>
          <a:p>
            <a:pPr>
              <a:spcAft>
                <a:spcPts val="1000"/>
              </a:spcAft>
              <a:defRPr sz="1300">
                <a:solidFill>
                  <a:srgbClr val="2D3748"/>
                </a:solidFill>
              </a:defRPr>
            </a:pPr>
            <a:r>
              <a:t>✔  Perform thorough data cleaning, preprocessing, and outlier handling.</a:t>
            </a:r>
          </a:p>
          <a:p>
            <a:pPr>
              <a:spcAft>
                <a:spcPts val="1000"/>
              </a:spcAft>
              <a:defRPr sz="1300">
                <a:solidFill>
                  <a:srgbClr val="2D3748"/>
                </a:solidFill>
              </a:defRPr>
            </a:pPr>
            <a:r>
              <a:t>✔  Conduct detailed exploratory data analysis to identify industry trends.</a:t>
            </a:r>
          </a:p>
          <a:p>
            <a:pPr>
              <a:spcAft>
                <a:spcPts val="1000"/>
              </a:spcAft>
              <a:defRPr sz="1300">
                <a:solidFill>
                  <a:srgbClr val="2D3748"/>
                </a:solidFill>
              </a:defRPr>
            </a:pPr>
            <a:r>
              <a:t>✔  Analyze the operational impact of AI on productivity and cost savings.</a:t>
            </a:r>
          </a:p>
          <a:p>
            <a:pPr>
              <a:spcAft>
                <a:spcPts val="1000"/>
              </a:spcAft>
              <a:defRPr sz="1300">
                <a:solidFill>
                  <a:srgbClr val="2D3748"/>
                </a:solidFill>
              </a:defRPr>
            </a:pPr>
            <a:r>
              <a:t>✔  Provide data-driven strategic insights and actionable recommendations.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RAW DATA METRICS</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Dataset Description</a:t>
            </a:r>
          </a:p>
        </p:txBody>
      </p:sp>
      <p:sp>
        <p:nvSpPr>
          <p:cNvPr id="4" name="Rounded Rectangle 3"/>
          <p:cNvSpPr/>
          <p:nvPr/>
        </p:nvSpPr>
        <p:spPr>
          <a:xfrm>
            <a:off x="731520" y="1463040"/>
            <a:ext cx="47548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206240" cy="4114800"/>
          </a:xfrm>
          <a:prstGeom prst="rect">
            <a:avLst/>
          </a:prstGeom>
          <a:noFill/>
        </p:spPr>
        <p:txBody>
          <a:bodyPr wrap="square">
            <a:spAutoFit/>
          </a:bodyPr>
          <a:lstStyle/>
          <a:p>
            <a:pPr>
              <a:spcAft>
                <a:spcPts val="1500"/>
              </a:spcAft>
              <a:defRPr sz="2000" b="1">
                <a:solidFill>
                  <a:srgbClr val="0F2240"/>
                </a:solidFill>
              </a:defRPr>
            </a:pPr>
            <a:r>
              <a:t>Dataset Information</a:t>
            </a:r>
          </a:p>
          <a:p>
            <a:pPr>
              <a:spcAft>
                <a:spcPts val="1000"/>
              </a:spcAft>
              <a:defRPr sz="1400"/>
            </a:pPr>
            <a:r>
              <a:rPr b="1">
                <a:solidFill>
                  <a:srgbClr val="0F2240"/>
                </a:solidFill>
              </a:rPr>
              <a:t>📊  Total Records: </a:t>
            </a:r>
            <a:r>
              <a:rPr>
                <a:solidFill>
                  <a:srgbClr val="2D3748"/>
                </a:solidFill>
              </a:rPr>
              <a:t>104,845 rows</a:t>
            </a:r>
          </a:p>
          <a:p>
            <a:pPr>
              <a:spcAft>
                <a:spcPts val="1000"/>
              </a:spcAft>
              <a:defRPr sz="1400"/>
            </a:pPr>
            <a:r>
              <a:rPr b="1">
                <a:solidFill>
                  <a:srgbClr val="0F2240"/>
                </a:solidFill>
              </a:rPr>
              <a:t>🏢  Unique Companies: </a:t>
            </a:r>
            <a:r>
              <a:rPr>
                <a:solidFill>
                  <a:srgbClr val="2D3748"/>
                </a:solidFill>
              </a:rPr>
              <a:t>8,000 corporate IDs</a:t>
            </a:r>
          </a:p>
          <a:p>
            <a:pPr>
              <a:spcAft>
                <a:spcPts val="1000"/>
              </a:spcAft>
              <a:defRPr sz="1400"/>
            </a:pPr>
            <a:r>
              <a:rPr b="1">
                <a:solidFill>
                  <a:srgbClr val="0F2240"/>
                </a:solidFill>
              </a:rPr>
              <a:t>🏭  Industries Covered: </a:t>
            </a:r>
            <a:r>
              <a:rPr>
                <a:solidFill>
                  <a:srgbClr val="2D3748"/>
                </a:solidFill>
              </a:rPr>
              <a:t>10 distinct sectors</a:t>
            </a:r>
          </a:p>
          <a:p>
            <a:pPr>
              <a:spcAft>
                <a:spcPts val="1000"/>
              </a:spcAft>
              <a:defRPr sz="1400"/>
            </a:pPr>
            <a:r>
              <a:rPr b="1">
                <a:solidFill>
                  <a:srgbClr val="0F2240"/>
                </a:solidFill>
              </a:rPr>
              <a:t>🌍  Countries Analyzed: </a:t>
            </a:r>
            <a:r>
              <a:rPr>
                <a:solidFill>
                  <a:srgbClr val="2D3748"/>
                </a:solidFill>
              </a:rPr>
              <a:t>15 unique nations</a:t>
            </a:r>
          </a:p>
          <a:p>
            <a:pPr>
              <a:spcAft>
                <a:spcPts val="1000"/>
              </a:spcAft>
              <a:defRPr sz="1400"/>
            </a:pPr>
            <a:r>
              <a:rPr b="1">
                <a:solidFill>
                  <a:srgbClr val="0F2240"/>
                </a:solidFill>
              </a:rPr>
              <a:t>📅  Time Period: </a:t>
            </a:r>
            <a:r>
              <a:rPr>
                <a:solidFill>
                  <a:srgbClr val="2D3748"/>
                </a:solidFill>
              </a:rPr>
              <a:t>2015 – 2025</a:t>
            </a:r>
          </a:p>
          <a:p>
            <a:pPr>
              <a:spcAft>
                <a:spcPts val="1000"/>
              </a:spcAft>
              <a:defRPr sz="1400"/>
            </a:pPr>
            <a:r>
              <a:rPr b="1">
                <a:solidFill>
                  <a:srgbClr val="0F2240"/>
                </a:solidFill>
              </a:rPr>
              <a:t>📋  Features: </a:t>
            </a:r>
            <a:r>
              <a:rPr>
                <a:solidFill>
                  <a:srgbClr val="2D3748"/>
                </a:solidFill>
              </a:rPr>
              <a:t>13 variables tracked</a:t>
            </a:r>
          </a:p>
        </p:txBody>
      </p:sp>
      <p:sp>
        <p:nvSpPr>
          <p:cNvPr id="6" name="Rounded Rectangle 5"/>
          <p:cNvSpPr/>
          <p:nvPr/>
        </p:nvSpPr>
        <p:spPr>
          <a:xfrm>
            <a:off x="5852160" y="1463040"/>
            <a:ext cx="5577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lot_df_head.png"/>
          <p:cNvPicPr>
            <a:picLocks noChangeAspect="1"/>
          </p:cNvPicPr>
          <p:nvPr/>
        </p:nvPicPr>
        <p:blipFill>
          <a:blip r:embed="rId2"/>
          <a:stretch>
            <a:fillRect/>
          </a:stretch>
        </p:blipFill>
        <p:spPr>
          <a:xfrm>
            <a:off x="5943600" y="1920240"/>
            <a:ext cx="5394960" cy="3657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DATA CLEANING &amp; EDA</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Data Cleaning &amp; Preprocessing</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114800"/>
          </a:xfrm>
          <a:prstGeom prst="rect">
            <a:avLst/>
          </a:prstGeom>
          <a:noFill/>
        </p:spPr>
        <p:txBody>
          <a:bodyPr wrap="square">
            <a:spAutoFit/>
          </a:bodyPr>
          <a:lstStyle/>
          <a:p>
            <a:pPr>
              <a:spcAft>
                <a:spcPts val="1500"/>
              </a:spcAft>
              <a:defRPr sz="2000" b="1">
                <a:solidFill>
                  <a:srgbClr val="0F2240"/>
                </a:solidFill>
              </a:defRPr>
            </a:pPr>
            <a:r>
              <a:t>Data Cleaning Pipeline</a:t>
            </a:r>
          </a:p>
          <a:p>
            <a:pPr>
              <a:spcAft>
                <a:spcPts val="1000"/>
              </a:spcAft>
              <a:defRPr sz="1300"/>
            </a:pPr>
            <a:r>
              <a:rPr b="1">
                <a:solidFill>
                  <a:srgbClr val="0F2240"/>
                </a:solidFill>
              </a:rPr>
              <a:t>✔  Missing Values → 0: </a:t>
            </a:r>
            <a:r>
              <a:rPr>
                <a:solidFill>
                  <a:srgbClr val="2D3748"/>
                </a:solidFill>
              </a:rPr>
              <a:t>Verified zero null cells across all features.</a:t>
            </a:r>
          </a:p>
          <a:p>
            <a:pPr>
              <a:spcAft>
                <a:spcPts val="1000"/>
              </a:spcAft>
              <a:defRPr sz="1300"/>
            </a:pPr>
            <a:r>
              <a:rPr b="1">
                <a:solidFill>
                  <a:srgbClr val="0F2240"/>
                </a:solidFill>
              </a:rPr>
              <a:t>✔  Duplicate Rows → 0: </a:t>
            </a:r>
            <a:r>
              <a:rPr>
                <a:solidFill>
                  <a:srgbClr val="2D3748"/>
                </a:solidFill>
              </a:rPr>
              <a:t>Confirmed completely unique observation rows.</a:t>
            </a:r>
          </a:p>
          <a:p>
            <a:pPr>
              <a:spcAft>
                <a:spcPts val="1000"/>
              </a:spcAft>
              <a:defRPr sz="1300"/>
            </a:pPr>
            <a:r>
              <a:rPr b="1">
                <a:solidFill>
                  <a:srgbClr val="0F2240"/>
                </a:solidFill>
              </a:rPr>
              <a:t>✔  Correct Data Types: </a:t>
            </a:r>
            <a:r>
              <a:rPr>
                <a:solidFill>
                  <a:srgbClr val="2D3748"/>
                </a:solidFill>
              </a:rPr>
              <a:t>Verified formatting (floats, integers, categorical).</a:t>
            </a:r>
          </a:p>
          <a:p>
            <a:pPr>
              <a:spcAft>
                <a:spcPts val="1000"/>
              </a:spcAft>
              <a:defRPr sz="1300"/>
            </a:pPr>
            <a:r>
              <a:rPr b="1">
                <a:solidFill>
                  <a:srgbClr val="0F2240"/>
                </a:solidFill>
              </a:rPr>
              <a:t>✔  Unique Categories Verified: </a:t>
            </a:r>
            <a:r>
              <a:rPr>
                <a:solidFill>
                  <a:srgbClr val="2D3748"/>
                </a:solidFill>
              </a:rPr>
              <a:t>Checked industry and country uniqueness for spelling or integrity issues.</a:t>
            </a:r>
          </a:p>
          <a:p>
            <a:pPr>
              <a:spcAft>
                <a:spcPts val="1000"/>
              </a:spcAft>
              <a:defRPr sz="1300"/>
            </a:pPr>
            <a:r>
              <a:rPr b="1">
                <a:solidFill>
                  <a:srgbClr val="0F2240"/>
                </a:solidFill>
              </a:rPr>
              <a:t>✔  Outlier Detection: </a:t>
            </a:r>
            <a:r>
              <a:rPr>
                <a:solidFill>
                  <a:srgbClr val="2D3748"/>
                </a:solidFill>
              </a:rPr>
              <a:t>Outliers in financial metrics identified via Z-scores and kept since they represent genuine large company variations.</a:t>
            </a:r>
          </a:p>
        </p:txBody>
      </p:sp>
      <p:sp>
        <p:nvSpPr>
          <p:cNvPr id="6" name="Rounded Rectangle 5"/>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lot_boxplot_cleaning.png"/>
          <p:cNvPicPr>
            <a:picLocks noChangeAspect="1"/>
          </p:cNvPicPr>
          <p:nvPr/>
        </p:nvPicPr>
        <p:blipFill>
          <a:blip r:embed="rId2"/>
          <a:stretch>
            <a:fillRect/>
          </a:stretch>
        </p:blipFill>
        <p:spPr>
          <a:xfrm>
            <a:off x="6400800" y="1828800"/>
            <a:ext cx="4937760" cy="3840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TEMPORAL ADOPTION GROWTH</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AI Adoption Trend (2015-2025)</a:t>
            </a:r>
          </a:p>
        </p:txBody>
      </p:sp>
      <p:sp>
        <p:nvSpPr>
          <p:cNvPr id="4" name="Rounded Rectangle 3"/>
          <p:cNvSpPr/>
          <p:nvPr/>
        </p:nvSpPr>
        <p:spPr>
          <a:xfrm>
            <a:off x="731520" y="1463040"/>
            <a:ext cx="1069848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ot_trend_adoption.png"/>
          <p:cNvPicPr>
            <a:picLocks noChangeAspect="1"/>
          </p:cNvPicPr>
          <p:nvPr/>
        </p:nvPicPr>
        <p:blipFill>
          <a:blip r:embed="rId2"/>
          <a:stretch>
            <a:fillRect/>
          </a:stretch>
        </p:blipFill>
        <p:spPr>
          <a:xfrm>
            <a:off x="1920240" y="1645920"/>
            <a:ext cx="8229600" cy="3291840"/>
          </a:xfrm>
          <a:prstGeom prst="rect">
            <a:avLst/>
          </a:prstGeom>
        </p:spPr>
      </p:pic>
      <p:sp>
        <p:nvSpPr>
          <p:cNvPr id="6" name="TextBox 5"/>
          <p:cNvSpPr txBox="1"/>
          <p:nvPr/>
        </p:nvSpPr>
        <p:spPr>
          <a:xfrm>
            <a:off x="731520" y="5303520"/>
            <a:ext cx="10698480" cy="1097280"/>
          </a:xfrm>
          <a:prstGeom prst="rect">
            <a:avLst/>
          </a:prstGeom>
          <a:noFill/>
        </p:spPr>
        <p:txBody>
          <a:bodyPr wrap="square">
            <a:spAutoFit/>
          </a:bodyPr>
          <a:lstStyle/>
          <a:p>
            <a:pPr>
              <a:spcAft>
                <a:spcPts val="600"/>
              </a:spcAft>
              <a:defRPr sz="1400" b="1">
                <a:solidFill>
                  <a:srgbClr val="0F2240"/>
                </a:solidFill>
              </a:defRPr>
            </a:pPr>
            <a:r>
              <a:t>Observation: </a:t>
            </a:r>
            <a:r>
              <a:rPr b="0">
                <a:solidFill>
                  <a:srgbClr val="2D3748"/>
                </a:solidFill>
              </a:rPr>
              <a:t>AI adoption increased steadily between 2015–2025.</a:t>
            </a:r>
          </a:p>
          <a:p>
            <a:pPr>
              <a:defRPr sz="1400" b="1">
                <a:solidFill>
                  <a:srgbClr val="0096A6"/>
                </a:solidFill>
              </a:defRPr>
            </a:pPr>
            <a:r>
              <a:t>Business Insight: </a:t>
            </a:r>
            <a:r>
              <a:rPr b="0">
                <a:solidFill>
                  <a:srgbClr val="2D3748"/>
                </a:solidFill>
              </a:rPr>
              <a:t>Organizations are increasingly integrating AI into business operations.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DATA CLEANING &amp; EDA</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AI Adoption &amp; Investment Across Industries</a:t>
            </a:r>
          </a:p>
        </p:txBody>
      </p:sp>
      <p:sp>
        <p:nvSpPr>
          <p:cNvPr id="4" name="Rounded Rectangle 3"/>
          <p:cNvSpPr/>
          <p:nvPr/>
        </p:nvSpPr>
        <p:spPr>
          <a:xfrm>
            <a:off x="731520" y="1463040"/>
            <a:ext cx="512064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ot_industry_adoption.png"/>
          <p:cNvPicPr>
            <a:picLocks noChangeAspect="1"/>
          </p:cNvPicPr>
          <p:nvPr/>
        </p:nvPicPr>
        <p:blipFill>
          <a:blip r:embed="rId2"/>
          <a:stretch>
            <a:fillRect/>
          </a:stretch>
        </p:blipFill>
        <p:spPr>
          <a:xfrm>
            <a:off x="822960" y="1645920"/>
            <a:ext cx="4937760" cy="3291840"/>
          </a:xfrm>
          <a:prstGeom prst="rect">
            <a:avLst/>
          </a:prstGeom>
        </p:spPr>
      </p:pic>
      <p:sp>
        <p:nvSpPr>
          <p:cNvPr id="6" name="Rounded Rectangle 5"/>
          <p:cNvSpPr/>
          <p:nvPr/>
        </p:nvSpPr>
        <p:spPr>
          <a:xfrm>
            <a:off x="6309360" y="1463040"/>
            <a:ext cx="512064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lot_industry_investment.png"/>
          <p:cNvPicPr>
            <a:picLocks noChangeAspect="1"/>
          </p:cNvPicPr>
          <p:nvPr/>
        </p:nvPicPr>
        <p:blipFill>
          <a:blip r:embed="rId3"/>
          <a:stretch>
            <a:fillRect/>
          </a:stretch>
        </p:blipFill>
        <p:spPr>
          <a:xfrm>
            <a:off x="6400800" y="1645920"/>
            <a:ext cx="4937760" cy="3291840"/>
          </a:xfrm>
          <a:prstGeom prst="rect">
            <a:avLst/>
          </a:prstGeom>
        </p:spPr>
      </p:pic>
      <p:sp>
        <p:nvSpPr>
          <p:cNvPr id="8" name="TextBox 7"/>
          <p:cNvSpPr txBox="1"/>
          <p:nvPr/>
        </p:nvSpPr>
        <p:spPr>
          <a:xfrm>
            <a:off x="731520" y="5303520"/>
            <a:ext cx="10698480" cy="1097280"/>
          </a:xfrm>
          <a:prstGeom prst="rect">
            <a:avLst/>
          </a:prstGeom>
          <a:noFill/>
        </p:spPr>
        <p:txBody>
          <a:bodyPr wrap="square">
            <a:spAutoFit/>
          </a:bodyPr>
          <a:lstStyle/>
          <a:p>
            <a:pPr>
              <a:defRPr sz="1400" b="1">
                <a:solidFill>
                  <a:srgbClr val="0F2240"/>
                </a:solidFill>
              </a:defRPr>
            </a:pPr>
            <a:r>
              <a:t>Observation: </a:t>
            </a:r>
            <a:r>
              <a:rPr b="0">
                <a:solidFill>
                  <a:srgbClr val="2D3748"/>
                </a:solidFill>
              </a:rPr>
              <a:t>Adoption is relatively consistent across industries, but Financial Services invests the most in 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NATIONAL VARIANCE ANALYSIS</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AI Investment by Country</a:t>
            </a:r>
          </a:p>
        </p:txBody>
      </p:sp>
      <p:sp>
        <p:nvSpPr>
          <p:cNvPr id="4" name="Rounded Rectangle 3"/>
          <p:cNvSpPr/>
          <p:nvPr/>
        </p:nvSpPr>
        <p:spPr>
          <a:xfrm>
            <a:off x="731520" y="1463040"/>
            <a:ext cx="1069848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ot_country_investment.png"/>
          <p:cNvPicPr>
            <a:picLocks noChangeAspect="1"/>
          </p:cNvPicPr>
          <p:nvPr/>
        </p:nvPicPr>
        <p:blipFill>
          <a:blip r:embed="rId2"/>
          <a:stretch>
            <a:fillRect/>
          </a:stretch>
        </p:blipFill>
        <p:spPr>
          <a:xfrm>
            <a:off x="1920240" y="1645920"/>
            <a:ext cx="8229600" cy="3291840"/>
          </a:xfrm>
          <a:prstGeom prst="rect">
            <a:avLst/>
          </a:prstGeom>
        </p:spPr>
      </p:pic>
      <p:sp>
        <p:nvSpPr>
          <p:cNvPr id="6" name="TextBox 5"/>
          <p:cNvSpPr txBox="1"/>
          <p:nvPr/>
        </p:nvSpPr>
        <p:spPr>
          <a:xfrm>
            <a:off x="731520" y="5303520"/>
            <a:ext cx="10698480" cy="1097280"/>
          </a:xfrm>
          <a:prstGeom prst="rect">
            <a:avLst/>
          </a:prstGeom>
          <a:noFill/>
        </p:spPr>
        <p:txBody>
          <a:bodyPr wrap="square">
            <a:spAutoFit/>
          </a:bodyPr>
          <a:lstStyle/>
          <a:p>
            <a:pPr>
              <a:defRPr sz="1400" b="1">
                <a:solidFill>
                  <a:srgbClr val="0F2240"/>
                </a:solidFill>
              </a:defRPr>
            </a:pPr>
            <a:r>
              <a:t>Observation: </a:t>
            </a:r>
            <a:r>
              <a:rPr b="0">
                <a:solidFill>
                  <a:srgbClr val="2D3748"/>
                </a:solidFill>
              </a:rPr>
              <a:t>United States has the highest average investment, while India and Brazil have comparatively lower investment.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DATA CLEANING &amp; EDA</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Business Performance: Revenue &amp; Cost Savings</a:t>
            </a:r>
          </a:p>
        </p:txBody>
      </p:sp>
      <p:sp>
        <p:nvSpPr>
          <p:cNvPr id="4" name="Rounded Rectangle 3"/>
          <p:cNvSpPr/>
          <p:nvPr/>
        </p:nvSpPr>
        <p:spPr>
          <a:xfrm>
            <a:off x="731520" y="1463040"/>
            <a:ext cx="512064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ot_industry_revenue.png"/>
          <p:cNvPicPr>
            <a:picLocks noChangeAspect="1"/>
          </p:cNvPicPr>
          <p:nvPr/>
        </p:nvPicPr>
        <p:blipFill>
          <a:blip r:embed="rId2"/>
          <a:stretch>
            <a:fillRect/>
          </a:stretch>
        </p:blipFill>
        <p:spPr>
          <a:xfrm>
            <a:off x="822960" y="1645920"/>
            <a:ext cx="4937760" cy="3291840"/>
          </a:xfrm>
          <a:prstGeom prst="rect">
            <a:avLst/>
          </a:prstGeom>
        </p:spPr>
      </p:pic>
      <p:sp>
        <p:nvSpPr>
          <p:cNvPr id="6" name="Rounded Rectangle 5"/>
          <p:cNvSpPr/>
          <p:nvPr/>
        </p:nvSpPr>
        <p:spPr>
          <a:xfrm>
            <a:off x="6309360" y="1463040"/>
            <a:ext cx="512064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lot_industry_cost.png"/>
          <p:cNvPicPr>
            <a:picLocks noChangeAspect="1"/>
          </p:cNvPicPr>
          <p:nvPr/>
        </p:nvPicPr>
        <p:blipFill>
          <a:blip r:embed="rId3"/>
          <a:stretch>
            <a:fillRect/>
          </a:stretch>
        </p:blipFill>
        <p:spPr>
          <a:xfrm>
            <a:off x="6400800" y="1645920"/>
            <a:ext cx="4937760" cy="3291840"/>
          </a:xfrm>
          <a:prstGeom prst="rect">
            <a:avLst/>
          </a:prstGeom>
        </p:spPr>
      </p:pic>
      <p:sp>
        <p:nvSpPr>
          <p:cNvPr id="8" name="TextBox 7"/>
          <p:cNvSpPr txBox="1"/>
          <p:nvPr/>
        </p:nvSpPr>
        <p:spPr>
          <a:xfrm>
            <a:off x="731520" y="5303520"/>
            <a:ext cx="10698480" cy="1097280"/>
          </a:xfrm>
          <a:prstGeom prst="rect">
            <a:avLst/>
          </a:prstGeom>
          <a:noFill/>
        </p:spPr>
        <p:txBody>
          <a:bodyPr wrap="square">
            <a:spAutoFit/>
          </a:bodyPr>
          <a:lstStyle/>
          <a:p>
            <a:pPr>
              <a:defRPr sz="1400" b="1">
                <a:solidFill>
                  <a:srgbClr val="0F2240"/>
                </a:solidFill>
              </a:defRPr>
            </a:pPr>
            <a:r>
              <a:t>Observation: </a:t>
            </a:r>
            <a:r>
              <a:rPr b="0">
                <a:solidFill>
                  <a:srgbClr val="2D3748"/>
                </a:solidFill>
              </a:rPr>
              <a:t>Technology achieves the highest revenue impact. Technology also records the highest cost savings.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OPERATIONAL EFFICIENCY GAINS</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Productivity Analysis by Industry</a:t>
            </a:r>
          </a:p>
        </p:txBody>
      </p:sp>
      <p:sp>
        <p:nvSpPr>
          <p:cNvPr id="4" name="Rounded Rectangle 3"/>
          <p:cNvSpPr/>
          <p:nvPr/>
        </p:nvSpPr>
        <p:spPr>
          <a:xfrm>
            <a:off x="731520" y="1463040"/>
            <a:ext cx="1069848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ot_industry_productivity.png"/>
          <p:cNvPicPr>
            <a:picLocks noChangeAspect="1"/>
          </p:cNvPicPr>
          <p:nvPr/>
        </p:nvPicPr>
        <p:blipFill>
          <a:blip r:embed="rId2"/>
          <a:stretch>
            <a:fillRect/>
          </a:stretch>
        </p:blipFill>
        <p:spPr>
          <a:xfrm>
            <a:off x="1920240" y="1645920"/>
            <a:ext cx="8229600" cy="3291840"/>
          </a:xfrm>
          <a:prstGeom prst="rect">
            <a:avLst/>
          </a:prstGeom>
        </p:spPr>
      </p:pic>
      <p:sp>
        <p:nvSpPr>
          <p:cNvPr id="6" name="TextBox 5"/>
          <p:cNvSpPr txBox="1"/>
          <p:nvPr/>
        </p:nvSpPr>
        <p:spPr>
          <a:xfrm>
            <a:off x="731520" y="5303520"/>
            <a:ext cx="10698480" cy="1097280"/>
          </a:xfrm>
          <a:prstGeom prst="rect">
            <a:avLst/>
          </a:prstGeom>
          <a:noFill/>
        </p:spPr>
        <p:txBody>
          <a:bodyPr wrap="square">
            <a:spAutoFit/>
          </a:bodyPr>
          <a:lstStyle/>
          <a:p>
            <a:pPr>
              <a:defRPr sz="1400" b="1">
                <a:solidFill>
                  <a:srgbClr val="0F2240"/>
                </a:solidFill>
              </a:defRPr>
            </a:pPr>
            <a:r>
              <a:t>Observation: </a:t>
            </a:r>
            <a:r>
              <a:rPr b="0">
                <a:solidFill>
                  <a:srgbClr val="2D3748"/>
                </a:solidFill>
              </a:rPr>
              <a:t>Manufacturing and Logistics have the highest productivity gains.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DATA CLEANING &amp; EDA</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Relationship Analysis: Regression Plots</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ot_reg_investment_productivity.png"/>
          <p:cNvPicPr>
            <a:picLocks noChangeAspect="1"/>
          </p:cNvPicPr>
          <p:nvPr/>
        </p:nvPicPr>
        <p:blipFill>
          <a:blip r:embed="rId2"/>
          <a:stretch>
            <a:fillRect/>
          </a:stretch>
        </p:blipFill>
        <p:spPr>
          <a:xfrm>
            <a:off x="822960" y="1645920"/>
            <a:ext cx="4937760" cy="2011680"/>
          </a:xfrm>
          <a:prstGeom prst="rect">
            <a:avLst/>
          </a:prstGeom>
        </p:spPr>
      </p:pic>
      <p:pic>
        <p:nvPicPr>
          <p:cNvPr id="6" name="Picture 5" descr="plot_reg_training_maturity.png"/>
          <p:cNvPicPr>
            <a:picLocks noChangeAspect="1"/>
          </p:cNvPicPr>
          <p:nvPr/>
        </p:nvPicPr>
        <p:blipFill>
          <a:blip r:embed="rId3"/>
          <a:stretch>
            <a:fillRect/>
          </a:stretch>
        </p:blipFill>
        <p:spPr>
          <a:xfrm>
            <a:off x="822960" y="3840480"/>
            <a:ext cx="4937760" cy="2011680"/>
          </a:xfrm>
          <a:prstGeom prst="rect">
            <a:avLst/>
          </a:prstGeom>
        </p:spPr>
      </p:pic>
      <p:sp>
        <p:nvSpPr>
          <p:cNvPr id="7" name="Rounded Rectangle 6"/>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0" y="2011680"/>
            <a:ext cx="4023360" cy="1828800"/>
          </a:xfrm>
          <a:prstGeom prst="roundRect">
            <a:avLst/>
          </a:prstGeom>
          <a:solidFill>
            <a:srgbClr val="009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2194560"/>
            <a:ext cx="3840480" cy="1463040"/>
          </a:xfrm>
          <a:prstGeom prst="rect">
            <a:avLst/>
          </a:prstGeom>
          <a:noFill/>
        </p:spPr>
        <p:txBody>
          <a:bodyPr wrap="square">
            <a:spAutoFit/>
          </a:bodyPr>
          <a:lstStyle/>
          <a:p>
            <a:pPr algn="ctr">
              <a:defRPr sz="4800" b="1">
                <a:solidFill>
                  <a:srgbClr val="FFFFFF"/>
                </a:solidFill>
              </a:defRPr>
            </a:pPr>
            <a:r>
              <a:t>0.845</a:t>
            </a:r>
          </a:p>
          <a:p>
            <a:pPr algn="ctr">
              <a:defRPr sz="1400" b="1">
                <a:solidFill>
                  <a:srgbClr val="FFFFFF"/>
                </a:solidFill>
              </a:defRPr>
            </a:pPr>
            <a:r>
              <a:t>Correlation: Training vs AI Maturity</a:t>
            </a:r>
          </a:p>
        </p:txBody>
      </p:sp>
      <p:sp>
        <p:nvSpPr>
          <p:cNvPr id="10" name="TextBox 9"/>
          <p:cNvSpPr txBox="1"/>
          <p:nvPr/>
        </p:nvSpPr>
        <p:spPr>
          <a:xfrm>
            <a:off x="6583680" y="4114800"/>
            <a:ext cx="4572000" cy="1645920"/>
          </a:xfrm>
          <a:prstGeom prst="rect">
            <a:avLst/>
          </a:prstGeom>
          <a:noFill/>
        </p:spPr>
        <p:txBody>
          <a:bodyPr wrap="square">
            <a:spAutoFit/>
          </a:bodyPr>
          <a:lstStyle/>
          <a:p>
            <a:pPr>
              <a:spcAft>
                <a:spcPts val="800"/>
              </a:spcAft>
              <a:defRPr sz="1600" b="1">
                <a:solidFill>
                  <a:srgbClr val="0F2240"/>
                </a:solidFill>
              </a:defRPr>
            </a:pPr>
            <a:r>
              <a:t>Key Observations:</a:t>
            </a:r>
          </a:p>
          <a:p>
            <a:pPr>
              <a:defRPr sz="1300">
                <a:solidFill>
                  <a:srgbClr val="2D3748"/>
                </a:solidFill>
              </a:defRPr>
            </a:pPr>
            <a:r>
              <a:t>• AI Investment has a positive but moderate relationship with Productivity Gain.</a:t>
            </a:r>
            <a:br/>
            <a:r>
              <a:t>• Employee Training has an exceptionally strong positive relationship (r = 0.845) with AI Maturity, demonstrating that training is a crucial builder of capability.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DATA CLEANING &amp; EDA</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Correlation Heatmap</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ot_heatmap_slide.png"/>
          <p:cNvPicPr>
            <a:picLocks noChangeAspect="1"/>
          </p:cNvPicPr>
          <p:nvPr/>
        </p:nvPicPr>
        <p:blipFill>
          <a:blip r:embed="rId2"/>
          <a:stretch>
            <a:fillRect/>
          </a:stretch>
        </p:blipFill>
        <p:spPr>
          <a:xfrm>
            <a:off x="822960" y="1828800"/>
            <a:ext cx="4937760" cy="3840480"/>
          </a:xfrm>
          <a:prstGeom prst="rect">
            <a:avLst/>
          </a:prstGeom>
        </p:spPr>
      </p:pic>
      <p:sp>
        <p:nvSpPr>
          <p:cNvPr id="6" name="Rounded Rectangle 5"/>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645920"/>
            <a:ext cx="4572000" cy="4114800"/>
          </a:xfrm>
          <a:prstGeom prst="rect">
            <a:avLst/>
          </a:prstGeom>
          <a:noFill/>
        </p:spPr>
        <p:txBody>
          <a:bodyPr wrap="square">
            <a:spAutoFit/>
          </a:bodyPr>
          <a:lstStyle/>
          <a:p>
            <a:pPr>
              <a:spcAft>
                <a:spcPts val="2000"/>
              </a:spcAft>
              <a:defRPr sz="2000" b="1">
                <a:solidFill>
                  <a:srgbClr val="0F2240"/>
                </a:solidFill>
              </a:defRPr>
            </a:pPr>
            <a:r>
              <a:t>Strongest Linear Relationships</a:t>
            </a:r>
          </a:p>
          <a:p>
            <a:pPr>
              <a:spcAft>
                <a:spcPts val="1500"/>
              </a:spcAft>
              <a:defRPr sz="1500"/>
            </a:pPr>
            <a:r>
              <a:t>•  </a:t>
            </a:r>
            <a:r>
              <a:rPr b="1">
                <a:solidFill>
                  <a:srgbClr val="0F2240"/>
                </a:solidFill>
              </a:rPr>
              <a:t>Automation ↔ Productivity = </a:t>
            </a:r>
            <a:r>
              <a:rPr b="1">
                <a:solidFill>
                  <a:srgbClr val="0096A6"/>
                </a:solidFill>
              </a:rPr>
              <a:t>0.95</a:t>
            </a:r>
          </a:p>
          <a:p>
            <a:pPr>
              <a:spcAft>
                <a:spcPts val="1500"/>
              </a:spcAft>
              <a:defRPr sz="1500"/>
            </a:pPr>
            <a:r>
              <a:t>•  </a:t>
            </a:r>
            <a:r>
              <a:rPr b="1">
                <a:solidFill>
                  <a:srgbClr val="0F2240"/>
                </a:solidFill>
              </a:rPr>
              <a:t>AI Maturity ↔ Deployment = </a:t>
            </a:r>
            <a:r>
              <a:rPr b="1">
                <a:solidFill>
                  <a:srgbClr val="0096A6"/>
                </a:solidFill>
              </a:rPr>
              <a:t>0.94</a:t>
            </a:r>
          </a:p>
          <a:p>
            <a:pPr>
              <a:spcAft>
                <a:spcPts val="1500"/>
              </a:spcAft>
              <a:defRPr sz="1500"/>
            </a:pPr>
            <a:r>
              <a:t>•  </a:t>
            </a:r>
            <a:r>
              <a:rPr b="1">
                <a:solidFill>
                  <a:srgbClr val="0F2240"/>
                </a:solidFill>
              </a:rPr>
              <a:t>AI Adoption ↔ Productivity = </a:t>
            </a:r>
            <a:r>
              <a:rPr b="1">
                <a:solidFill>
                  <a:srgbClr val="0096A6"/>
                </a:solidFill>
              </a:rPr>
              <a:t>0.93</a:t>
            </a:r>
          </a:p>
          <a:p>
            <a:pPr>
              <a:spcAft>
                <a:spcPts val="1500"/>
              </a:spcAft>
              <a:defRPr sz="1500"/>
            </a:pPr>
            <a:r>
              <a:t>•  </a:t>
            </a:r>
            <a:r>
              <a:rPr b="1">
                <a:solidFill>
                  <a:srgbClr val="0F2240"/>
                </a:solidFill>
              </a:rPr>
              <a:t>Training ↔ AI Maturity = </a:t>
            </a:r>
            <a:r>
              <a:rPr b="1">
                <a:solidFill>
                  <a:srgbClr val="0096A6"/>
                </a:solidFill>
              </a:rPr>
              <a:t>0.85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MULTI-VARIABLE INTERACTIONS</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Pair Plot Visualization</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ot_pairplot_slide.png"/>
          <p:cNvPicPr>
            <a:picLocks noChangeAspect="1"/>
          </p:cNvPicPr>
          <p:nvPr/>
        </p:nvPicPr>
        <p:blipFill>
          <a:blip r:embed="rId2"/>
          <a:stretch>
            <a:fillRect/>
          </a:stretch>
        </p:blipFill>
        <p:spPr>
          <a:xfrm>
            <a:off x="822960" y="1828800"/>
            <a:ext cx="4937760" cy="3840480"/>
          </a:xfrm>
          <a:prstGeom prst="rect">
            <a:avLst/>
          </a:prstGeom>
        </p:spPr>
      </p:pic>
      <p:sp>
        <p:nvSpPr>
          <p:cNvPr id="6" name="Rounded Rectangle 5"/>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645920"/>
            <a:ext cx="4572000" cy="4114800"/>
          </a:xfrm>
          <a:prstGeom prst="rect">
            <a:avLst/>
          </a:prstGeom>
          <a:noFill/>
        </p:spPr>
        <p:txBody>
          <a:bodyPr wrap="square">
            <a:spAutoFit/>
          </a:bodyPr>
          <a:lstStyle/>
          <a:p>
            <a:pPr>
              <a:spcAft>
                <a:spcPts val="2000"/>
              </a:spcAft>
              <a:defRPr sz="2000" b="1">
                <a:solidFill>
                  <a:srgbClr val="0F2240"/>
                </a:solidFill>
              </a:defRPr>
            </a:pPr>
            <a:r>
              <a:t>Pair Plot Observations</a:t>
            </a:r>
          </a:p>
          <a:p>
            <a:pPr>
              <a:spcAft>
                <a:spcPts val="2000"/>
              </a:spcAft>
              <a:defRPr sz="1500">
                <a:solidFill>
                  <a:srgbClr val="2D3748"/>
                </a:solidFill>
              </a:defRPr>
            </a:pPr>
            <a:r>
              <a:t>•  Strong positive relationships among major variables.</a:t>
            </a:r>
          </a:p>
          <a:p>
            <a:pPr>
              <a:spcAft>
                <a:spcPts val="2000"/>
              </a:spcAft>
              <a:defRPr sz="1500">
                <a:solidFill>
                  <a:srgbClr val="2D3748"/>
                </a:solidFill>
              </a:defRPr>
            </a:pPr>
            <a:r>
              <a:t>•  AI Investment shows greater variability.</a:t>
            </a:r>
          </a:p>
          <a:p>
            <a:pPr>
              <a:spcAft>
                <a:spcPts val="2000"/>
              </a:spcAft>
              <a:defRPr sz="1500">
                <a:solidFill>
                  <a:srgbClr val="2D3748"/>
                </a:solidFill>
              </a:defRPr>
            </a:pPr>
            <a:r>
              <a:t>•  Employee Training closely aligns with AI Maturity.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ANALYTICAL TAKEAWAYS</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Key Insights</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114800"/>
          </a:xfrm>
          <a:prstGeom prst="rect">
            <a:avLst/>
          </a:prstGeom>
          <a:noFill/>
        </p:spPr>
        <p:txBody>
          <a:bodyPr wrap="square">
            <a:spAutoFit/>
          </a:bodyPr>
          <a:lstStyle/>
          <a:p>
            <a:pPr>
              <a:spcAft>
                <a:spcPts val="2400"/>
              </a:spcAft>
              <a:defRPr sz="2000"/>
            </a:pPr>
            <a:r>
              <a:t>📈  </a:t>
            </a:r>
            <a:r>
              <a:rPr sz="1500">
                <a:solidFill>
                  <a:srgbClr val="2D3748"/>
                </a:solidFill>
              </a:rPr>
              <a:t>AI adoption increased over time.</a:t>
            </a:r>
          </a:p>
          <a:p>
            <a:pPr>
              <a:spcAft>
                <a:spcPts val="2400"/>
              </a:spcAft>
              <a:defRPr sz="2000"/>
            </a:pPr>
            <a:r>
              <a:t>💰  </a:t>
            </a:r>
            <a:r>
              <a:rPr sz="1500">
                <a:solidFill>
                  <a:srgbClr val="2D3748"/>
                </a:solidFill>
              </a:rPr>
              <a:t>Financial Services invests the most.</a:t>
            </a:r>
          </a:p>
          <a:p>
            <a:pPr>
              <a:spcAft>
                <a:spcPts val="2400"/>
              </a:spcAft>
              <a:defRPr sz="2000"/>
            </a:pPr>
            <a:r>
              <a:t>🏭  </a:t>
            </a:r>
            <a:r>
              <a:rPr sz="1500">
                <a:solidFill>
                  <a:srgbClr val="2D3748"/>
                </a:solidFill>
              </a:rPr>
              <a:t>Manufacturing has highest productivity.</a:t>
            </a:r>
          </a:p>
        </p:txBody>
      </p:sp>
      <p:sp>
        <p:nvSpPr>
          <p:cNvPr id="6" name="Rounded Rectangle 5"/>
          <p:cNvSpPr/>
          <p:nvPr/>
        </p:nvSpPr>
        <p:spPr>
          <a:xfrm>
            <a:off x="630936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645920"/>
            <a:ext cx="4572000" cy="4114800"/>
          </a:xfrm>
          <a:prstGeom prst="rect">
            <a:avLst/>
          </a:prstGeom>
          <a:noFill/>
        </p:spPr>
        <p:txBody>
          <a:bodyPr wrap="square">
            <a:spAutoFit/>
          </a:bodyPr>
          <a:lstStyle/>
          <a:p>
            <a:pPr>
              <a:spcAft>
                <a:spcPts val="2400"/>
              </a:spcAft>
              <a:defRPr sz="2000"/>
            </a:pPr>
            <a:r>
              <a:t>🧑‍🏫  </a:t>
            </a:r>
            <a:r>
              <a:rPr sz="1500">
                <a:solidFill>
                  <a:srgbClr val="2D3748"/>
                </a:solidFill>
              </a:rPr>
              <a:t>Employee training strongly improves AI maturity.</a:t>
            </a:r>
          </a:p>
          <a:p>
            <a:pPr>
              <a:spcAft>
                <a:spcPts val="2400"/>
              </a:spcAft>
              <a:defRPr sz="2000"/>
            </a:pPr>
            <a:r>
              <a:t>🤖  </a:t>
            </a:r>
            <a:r>
              <a:rPr sz="1500">
                <a:solidFill>
                  <a:srgbClr val="2D3748"/>
                </a:solidFill>
              </a:rPr>
              <a:t>Automation improves productivity.</a:t>
            </a:r>
          </a:p>
          <a:p>
            <a:pPr>
              <a:spcAft>
                <a:spcPts val="2400"/>
              </a:spcAft>
              <a:defRPr sz="2000"/>
            </a:pPr>
            <a:r>
              <a:t>💵  </a:t>
            </a:r>
            <a:r>
              <a:rPr sz="1500">
                <a:solidFill>
                  <a:srgbClr val="2D3748"/>
                </a:solidFill>
              </a:rPr>
              <a:t>Technology generates highest revenue.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096A6"/>
                </a:solidFill>
                <a:latin typeface="Arial"/>
              </a:defRPr>
            </a:pPr>
            <a:r>
              <a:t>CHANGES WE CAN MAKE</a:t>
            </a:r>
          </a:p>
        </p:txBody>
      </p:sp>
      <p:sp>
        <p:nvSpPr>
          <p:cNvPr id="3" name="TextBox 2"/>
          <p:cNvSpPr txBox="1"/>
          <p:nvPr/>
        </p:nvSpPr>
        <p:spPr>
          <a:xfrm>
            <a:off x="731520" y="548640"/>
            <a:ext cx="10698480" cy="731520"/>
          </a:xfrm>
          <a:prstGeom prst="rect">
            <a:avLst/>
          </a:prstGeom>
          <a:noFill/>
        </p:spPr>
        <p:txBody>
          <a:bodyPr wrap="square">
            <a:spAutoFit/>
          </a:bodyPr>
          <a:lstStyle/>
          <a:p>
            <a:pPr>
              <a:defRPr sz="2800" b="1">
                <a:solidFill>
                  <a:srgbClr val="0F2240"/>
                </a:solidFill>
                <a:latin typeface="Arial"/>
              </a:defRPr>
            </a:pPr>
            <a:r>
              <a:t>Actionable Recommendations</a:t>
            </a:r>
          </a:p>
        </p:txBody>
      </p:sp>
      <p:sp>
        <p:nvSpPr>
          <p:cNvPr id="4" name="Rounded Rectangle 3"/>
          <p:cNvSpPr/>
          <p:nvPr/>
        </p:nvSpPr>
        <p:spPr>
          <a:xfrm>
            <a:off x="731520" y="1463040"/>
            <a:ext cx="106984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645920"/>
            <a:ext cx="9966960" cy="4114800"/>
          </a:xfrm>
          <a:prstGeom prst="rect">
            <a:avLst/>
          </a:prstGeom>
          <a:noFill/>
        </p:spPr>
        <p:txBody>
          <a:bodyPr wrap="square">
            <a:spAutoFit/>
          </a:bodyPr>
          <a:lstStyle/>
          <a:p>
            <a:pPr>
              <a:spcAft>
                <a:spcPts val="1800"/>
              </a:spcAft>
              <a:defRPr sz="1600">
                <a:solidFill>
                  <a:srgbClr val="0096A6"/>
                </a:solidFill>
              </a:defRPr>
            </a:pPr>
            <a:r>
              <a:t>✔  </a:t>
            </a:r>
            <a:r>
              <a:rPr>
                <a:solidFill>
                  <a:srgbClr val="2D3748"/>
                </a:solidFill>
              </a:rPr>
              <a:t>Increase employee AI training.</a:t>
            </a:r>
          </a:p>
          <a:p>
            <a:pPr>
              <a:spcAft>
                <a:spcPts val="1800"/>
              </a:spcAft>
              <a:defRPr sz="1600">
                <a:solidFill>
                  <a:srgbClr val="0096A6"/>
                </a:solidFill>
              </a:defRPr>
            </a:pPr>
            <a:r>
              <a:t>✔  </a:t>
            </a:r>
            <a:r>
              <a:rPr>
                <a:solidFill>
                  <a:srgbClr val="2D3748"/>
                </a:solidFill>
              </a:rPr>
              <a:t>Improve AI maturity.</a:t>
            </a:r>
          </a:p>
          <a:p>
            <a:pPr>
              <a:spcAft>
                <a:spcPts val="1800"/>
              </a:spcAft>
              <a:defRPr sz="1600">
                <a:solidFill>
                  <a:srgbClr val="0096A6"/>
                </a:solidFill>
              </a:defRPr>
            </a:pPr>
            <a:r>
              <a:t>✔  </a:t>
            </a:r>
            <a:r>
              <a:rPr>
                <a:solidFill>
                  <a:srgbClr val="2D3748"/>
                </a:solidFill>
              </a:rPr>
              <a:t>Expand automation.</a:t>
            </a:r>
          </a:p>
          <a:p>
            <a:pPr>
              <a:spcAft>
                <a:spcPts val="1800"/>
              </a:spcAft>
              <a:defRPr sz="1600">
                <a:solidFill>
                  <a:srgbClr val="0096A6"/>
                </a:solidFill>
              </a:defRPr>
            </a:pPr>
            <a:r>
              <a:t>✔  </a:t>
            </a:r>
            <a:r>
              <a:rPr>
                <a:solidFill>
                  <a:srgbClr val="2D3748"/>
                </a:solidFill>
              </a:rPr>
              <a:t>Invest strategically.</a:t>
            </a:r>
          </a:p>
          <a:p>
            <a:pPr>
              <a:spcAft>
                <a:spcPts val="1800"/>
              </a:spcAft>
              <a:defRPr sz="1600">
                <a:solidFill>
                  <a:srgbClr val="0096A6"/>
                </a:solidFill>
              </a:defRPr>
            </a:pPr>
            <a:r>
              <a:t>✔  </a:t>
            </a:r>
            <a:r>
              <a:rPr>
                <a:solidFill>
                  <a:srgbClr val="2D3748"/>
                </a:solidFill>
              </a:rPr>
              <a:t>Measure AI performance regularly.</a:t>
            </a:r>
          </a:p>
          <a:p>
            <a:pPr>
              <a:spcAft>
                <a:spcPts val="1800"/>
              </a:spcAft>
              <a:defRPr sz="1600">
                <a:solidFill>
                  <a:srgbClr val="0096A6"/>
                </a:solidFill>
              </a:defRPr>
            </a:pPr>
            <a:r>
              <a:t>✔  </a:t>
            </a:r>
            <a:r>
              <a:rPr>
                <a:solidFill>
                  <a:srgbClr val="2D3748"/>
                </a:solidFill>
              </a:rPr>
              <a:t>Build long-term AI strategy.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2240"/>
        </a:solidFill>
        <a:effectLst/>
      </p:bgPr>
    </p:bg>
    <p:spTree>
      <p:nvGrpSpPr>
        <p:cNvPr id="1" name=""/>
        <p:cNvGrpSpPr/>
        <p:nvPr/>
      </p:nvGrpSpPr>
      <p:grpSpPr/>
      <p:sp>
        <p:nvSpPr>
          <p:cNvPr id="2" name="TextBox 1"/>
          <p:cNvSpPr txBox="1"/>
          <p:nvPr/>
        </p:nvSpPr>
        <p:spPr>
          <a:xfrm>
            <a:off x="914400" y="1097280"/>
            <a:ext cx="10332720" cy="731520"/>
          </a:xfrm>
          <a:prstGeom prst="rect">
            <a:avLst/>
          </a:prstGeom>
          <a:noFill/>
        </p:spPr>
        <p:txBody>
          <a:bodyPr wrap="none">
            <a:spAutoFit/>
          </a:bodyPr>
          <a:lstStyle/>
          <a:p>
            <a:pPr>
              <a:defRPr sz="3600" b="1">
                <a:solidFill>
                  <a:srgbClr val="FFFFFF"/>
                </a:solidFill>
                <a:latin typeface="Arial"/>
              </a:defRPr>
            </a:pPr>
            <a:r>
              <a:t>Conclusion</a:t>
            </a:r>
          </a:p>
        </p:txBody>
      </p:sp>
      <p:sp>
        <p:nvSpPr>
          <p:cNvPr id="3" name="TextBox 2"/>
          <p:cNvSpPr txBox="1"/>
          <p:nvPr/>
        </p:nvSpPr>
        <p:spPr>
          <a:xfrm>
            <a:off x="914400" y="2011680"/>
            <a:ext cx="10332720" cy="2011680"/>
          </a:xfrm>
          <a:prstGeom prst="rect">
            <a:avLst/>
          </a:prstGeom>
          <a:noFill/>
        </p:spPr>
        <p:txBody>
          <a:bodyPr wrap="square">
            <a:spAutoFit/>
          </a:bodyPr>
          <a:lstStyle/>
          <a:p>
            <a:pPr>
              <a:spcAft>
                <a:spcPts val="2000"/>
              </a:spcAft>
              <a:defRPr sz="1800">
                <a:solidFill>
                  <a:srgbClr val="FFFFFF"/>
                </a:solidFill>
                <a:latin typeface="Arial"/>
              </a:defRPr>
            </a:pPr>
            <a:r>
              <a:t>AI adoption has grown consistently between 2015 and 2025, driving significant improvements in productivity, revenue, and cost savings across industries. A balanced strategy that combines financial investment, process-wide automation, and robust employee training is crucial for organizations to maximize their AI returns and build long-term AI maturity.</a:t>
            </a:r>
          </a:p>
        </p:txBody>
      </p:sp>
      <p:sp>
        <p:nvSpPr>
          <p:cNvPr id="4" name="TextBox 3"/>
          <p:cNvSpPr txBox="1"/>
          <p:nvPr/>
        </p:nvSpPr>
        <p:spPr>
          <a:xfrm>
            <a:off x="914400" y="4114800"/>
            <a:ext cx="10332720" cy="1828800"/>
          </a:xfrm>
          <a:prstGeom prst="rect">
            <a:avLst/>
          </a:prstGeom>
          <a:noFill/>
        </p:spPr>
        <p:txBody>
          <a:bodyPr wrap="none">
            <a:spAutoFit/>
          </a:bodyPr>
          <a:lstStyle/>
          <a:p>
            <a:pPr algn="ctr">
              <a:defRPr sz="4400" b="1">
                <a:solidFill>
                  <a:srgbClr val="0096A6"/>
                </a:solidFill>
                <a:latin typeface="Aria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