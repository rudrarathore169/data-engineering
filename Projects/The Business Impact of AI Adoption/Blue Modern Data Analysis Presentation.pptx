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9144000" y="1028700"/>
            <a:ext cx="8115300" cy="8229600"/>
            <a:chOff x="0" y="0"/>
            <a:chExt cx="1257272" cy="1274980"/>
          </a:xfrm>
        </p:grpSpPr>
        <p:sp>
          <p:nvSpPr>
            <p:cNvPr name="Freeform 3" id="3"/>
            <p:cNvSpPr/>
            <p:nvPr/>
          </p:nvSpPr>
          <p:spPr>
            <a:xfrm flipH="false" flipV="false" rot="0">
              <a:off x="0" y="0"/>
              <a:ext cx="1257272" cy="1274980"/>
            </a:xfrm>
            <a:custGeom>
              <a:avLst/>
              <a:gdLst/>
              <a:ahLst/>
              <a:cxnLst/>
              <a:rect r="r" b="b" t="t" l="l"/>
              <a:pathLst>
                <a:path h="1274980" w="1257272">
                  <a:moveTo>
                    <a:pt x="38160" y="0"/>
                  </a:moveTo>
                  <a:lnTo>
                    <a:pt x="1219113" y="0"/>
                  </a:lnTo>
                  <a:cubicBezTo>
                    <a:pt x="1240188" y="0"/>
                    <a:pt x="1257272" y="17085"/>
                    <a:pt x="1257272" y="38160"/>
                  </a:cubicBezTo>
                  <a:lnTo>
                    <a:pt x="1257272" y="1236821"/>
                  </a:lnTo>
                  <a:cubicBezTo>
                    <a:pt x="1257272" y="1257896"/>
                    <a:pt x="1240188" y="1274980"/>
                    <a:pt x="1219113" y="1274980"/>
                  </a:cubicBezTo>
                  <a:lnTo>
                    <a:pt x="38160" y="1274980"/>
                  </a:lnTo>
                  <a:cubicBezTo>
                    <a:pt x="17085" y="1274980"/>
                    <a:pt x="0" y="1257896"/>
                    <a:pt x="0" y="1236821"/>
                  </a:cubicBezTo>
                  <a:lnTo>
                    <a:pt x="0" y="38160"/>
                  </a:lnTo>
                  <a:cubicBezTo>
                    <a:pt x="0" y="17085"/>
                    <a:pt x="17085" y="0"/>
                    <a:pt x="38160" y="0"/>
                  </a:cubicBezTo>
                  <a:close/>
                </a:path>
              </a:pathLst>
            </a:custGeom>
            <a:blipFill>
              <a:blip r:embed="rId2"/>
              <a:stretch>
                <a:fillRect l="-25987" t="0" r="-25987" b="0"/>
              </a:stretch>
            </a:blipFill>
          </p:spPr>
        </p:sp>
      </p:grpSp>
      <p:sp>
        <p:nvSpPr>
          <p:cNvPr name="Freeform 4" id="4"/>
          <p:cNvSpPr/>
          <p:nvPr/>
        </p:nvSpPr>
        <p:spPr>
          <a:xfrm flipH="false" flipV="false" rot="0">
            <a:off x="6099880" y="3217380"/>
            <a:ext cx="1116395" cy="1116395"/>
          </a:xfrm>
          <a:custGeom>
            <a:avLst/>
            <a:gdLst/>
            <a:ahLst/>
            <a:cxnLst/>
            <a:rect r="r" b="b" t="t" l="l"/>
            <a:pathLst>
              <a:path h="1116395" w="1116395">
                <a:moveTo>
                  <a:pt x="0" y="0"/>
                </a:moveTo>
                <a:lnTo>
                  <a:pt x="1116396" y="0"/>
                </a:lnTo>
                <a:lnTo>
                  <a:pt x="1116396" y="1116395"/>
                </a:lnTo>
                <a:lnTo>
                  <a:pt x="0" y="111639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TextBox 5" id="5"/>
          <p:cNvSpPr txBox="true"/>
          <p:nvPr/>
        </p:nvSpPr>
        <p:spPr>
          <a:xfrm rot="0">
            <a:off x="1028700" y="2965913"/>
            <a:ext cx="5629378" cy="1698692"/>
          </a:xfrm>
          <a:prstGeom prst="rect">
            <a:avLst/>
          </a:prstGeom>
        </p:spPr>
        <p:txBody>
          <a:bodyPr anchor="t" rtlCol="false" tIns="0" lIns="0" bIns="0" rIns="0">
            <a:spAutoFit/>
          </a:bodyPr>
          <a:lstStyle/>
          <a:p>
            <a:pPr>
              <a:defRPr b="1">
                <a:solidFill>
                  <a:srgbClr val="2563EB"/>
                </a:solidFill>
                <a:latin typeface="Arial"/>
              </a:defRPr>
            </a:pPr>
            <a:r>
              <a:t>AI ADOPTION &amp;</a:t>
            </a:r>
          </a:p>
        </p:txBody>
      </p:sp>
      <p:sp>
        <p:nvSpPr>
          <p:cNvPr name="TextBox 6" id="6"/>
          <p:cNvSpPr txBox="true"/>
          <p:nvPr/>
        </p:nvSpPr>
        <p:spPr>
          <a:xfrm rot="0">
            <a:off x="1028700" y="4267100"/>
            <a:ext cx="6531756" cy="1698692"/>
          </a:xfrm>
          <a:prstGeom prst="rect">
            <a:avLst/>
          </a:prstGeom>
        </p:spPr>
        <p:txBody>
          <a:bodyPr anchor="t" rtlCol="false" tIns="0" lIns="0" bIns="0" rIns="0">
            <a:spAutoFit/>
          </a:bodyPr>
          <a:lstStyle/>
          <a:p>
            <a:pPr>
              <a:defRPr b="1">
                <a:solidFill>
                  <a:srgbClr val="2563EB"/>
                </a:solidFill>
                <a:latin typeface="Arial"/>
              </a:defRPr>
            </a:pPr>
            <a:r>
              <a:t>BUSINESS PERFORMANCE</a:t>
            </a:r>
          </a:p>
          <a:p>
            <a:r>
              <a:t>ANALYSIS</a:t>
            </a:r>
          </a:p>
        </p:txBody>
      </p:sp>
      <p:sp>
        <p:nvSpPr>
          <p:cNvPr name="TextBox 7" id="7"/>
          <p:cNvSpPr txBox="true"/>
          <p:nvPr/>
        </p:nvSpPr>
        <p:spPr>
          <a:xfrm rot="0">
            <a:off x="1028700" y="6046405"/>
            <a:ext cx="6531756" cy="412816"/>
          </a:xfrm>
          <a:prstGeom prst="rect">
            <a:avLst/>
          </a:prstGeom>
        </p:spPr>
        <p:txBody>
          <a:bodyPr anchor="t" rtlCol="false" tIns="0" lIns="0" bIns="0" rIns="0">
            <a:spAutoFit/>
          </a:bodyPr>
          <a:lstStyle/>
          <a:p/>
        </p:txBody>
      </p:sp>
      <p:sp>
        <p:nvSpPr>
          <p:cNvPr name="TextBox 8" id="8"/>
          <p:cNvSpPr txBox="true"/>
          <p:nvPr/>
        </p:nvSpPr>
        <p:spPr>
          <a:xfrm rot="0">
            <a:off x="1028700" y="8845484"/>
            <a:ext cx="4291680" cy="412816"/>
          </a:xfrm>
          <a:prstGeom prst="rect">
            <a:avLst/>
          </a:prstGeom>
        </p:spPr>
        <p:txBody>
          <a:bodyPr anchor="t" rtlCol="false" tIns="0" lIns="0" bIns="0" rIns="0">
            <a:spAutoFit/>
          </a:bodyPr>
          <a:lstStyle/>
          <a:p>
            <a:pPr algn="l">
              <a:lnSpc>
                <a:spcPts val="3499"/>
              </a:lnSpc>
              <a:spcBef>
                <a:spcPct val="0"/>
              </a:spcBef>
              <a:spcAft>
                <a:spcPts val="1000"/>
              </a:spcAft>
            </a:pPr>
            <a:r>
              <a:rPr b="1" sz="1500">
                <a:solidFill>
                  <a:srgbClr val="718096"/>
                </a:solidFill>
              </a:rPr>
              <a:t>Presented By</a:t>
            </a:r>
          </a:p>
          <a:p>
            <a:pPr>
              <a:spcAft>
                <a:spcPts val="600"/>
              </a:spcAft>
            </a:pPr>
            <a:r>
              <a:rPr sz="1400" b="1">
                <a:solidFill>
                  <a:srgbClr val="2D3748"/>
                </a:solidFill>
              </a:rPr>
              <a:t>•  Rudra Pratap Singh Rathore</a:t>
            </a:r>
          </a:p>
          <a:p>
            <a:pPr>
              <a:spcAft>
                <a:spcPts val="600"/>
              </a:spcAft>
            </a:pPr>
            <a:r>
              <a:rPr sz="1400" b="1">
                <a:solidFill>
                  <a:srgbClr val="2D3748"/>
                </a:solidFill>
              </a:rPr>
              <a:t>•  Techno NJR Institute of Technology</a:t>
            </a:r>
          </a:p>
        </p:txBody>
      </p:sp>
      <p:sp>
        <p:nvSpPr>
          <p:cNvPr name="TextBox 9" id="9"/>
          <p:cNvSpPr txBox="true"/>
          <p:nvPr/>
        </p:nvSpPr>
        <p:spPr>
          <a:xfrm rot="0">
            <a:off x="1028700" y="990600"/>
            <a:ext cx="4291680" cy="412816"/>
          </a:xfrm>
          <a:prstGeom prst="rect">
            <a:avLst/>
          </a:prstGeom>
        </p:spPr>
        <p:txBody>
          <a:bodyPr anchor="t" rtlCol="false" tIns="0" lIns="0" bIns="0" rIns="0">
            <a:spAutoFit/>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9144000" y="2762105"/>
            <a:ext cx="9535158" cy="8229600"/>
            <a:chOff x="0" y="0"/>
            <a:chExt cx="1477246" cy="1274980"/>
          </a:xfrm>
        </p:grpSpPr>
        <p:sp>
          <p:nvSpPr>
            <p:cNvPr name="Freeform 3" id="3"/>
            <p:cNvSpPr/>
            <p:nvPr/>
          </p:nvSpPr>
          <p:spPr>
            <a:xfrm flipH="false" flipV="false" rot="0">
              <a:off x="0" y="0"/>
              <a:ext cx="1477246" cy="1274980"/>
            </a:xfrm>
            <a:custGeom>
              <a:avLst/>
              <a:gdLst/>
              <a:ahLst/>
              <a:cxnLst/>
              <a:rect r="r" b="b" t="t" l="l"/>
              <a:pathLst>
                <a:path h="1274980" w="1477246">
                  <a:moveTo>
                    <a:pt x="32477" y="0"/>
                  </a:moveTo>
                  <a:lnTo>
                    <a:pt x="1444768" y="0"/>
                  </a:lnTo>
                  <a:cubicBezTo>
                    <a:pt x="1462705" y="0"/>
                    <a:pt x="1477246" y="14541"/>
                    <a:pt x="1477246" y="32477"/>
                  </a:cubicBezTo>
                  <a:lnTo>
                    <a:pt x="1477246" y="1242503"/>
                  </a:lnTo>
                  <a:cubicBezTo>
                    <a:pt x="1477246" y="1260440"/>
                    <a:pt x="1462705" y="1274980"/>
                    <a:pt x="1444768" y="1274980"/>
                  </a:cubicBezTo>
                  <a:lnTo>
                    <a:pt x="32477" y="1274980"/>
                  </a:lnTo>
                  <a:cubicBezTo>
                    <a:pt x="14541" y="1274980"/>
                    <a:pt x="0" y="1260440"/>
                    <a:pt x="0" y="1242503"/>
                  </a:cubicBezTo>
                  <a:lnTo>
                    <a:pt x="0" y="32477"/>
                  </a:lnTo>
                  <a:cubicBezTo>
                    <a:pt x="0" y="14541"/>
                    <a:pt x="14541" y="0"/>
                    <a:pt x="32477" y="0"/>
                  </a:cubicBezTo>
                  <a:close/>
                </a:path>
              </a:pathLst>
            </a:custGeom>
            <a:blipFill>
              <a:blip r:embed="rId2"/>
              <a:stretch>
                <a:fillRect l="-14672" t="0" r="-14672" b="0"/>
              </a:stretch>
            </a:blipFill>
          </p:spPr>
        </p:sp>
      </p:grpSp>
      <p:sp>
        <p:nvSpPr>
          <p:cNvPr name="TextBox 4" id="4"/>
          <p:cNvSpPr txBox="true"/>
          <p:nvPr/>
        </p:nvSpPr>
        <p:spPr>
          <a:xfrm rot="0">
            <a:off x="1028700" y="847725"/>
            <a:ext cx="10404402" cy="1698692"/>
          </a:xfrm>
          <a:prstGeom prst="rect">
            <a:avLst/>
          </a:prstGeom>
        </p:spPr>
        <p:txBody>
          <a:bodyPr anchor="t" rtlCol="false" tIns="0" lIns="0" bIns="0" rIns="0">
            <a:spAutoFit/>
          </a:bodyPr>
          <a:lstStyle/>
          <a:p>
            <a:pPr>
              <a:defRPr b="1">
                <a:solidFill>
                  <a:srgbClr val="2563EB"/>
                </a:solidFill>
                <a:latin typeface="Arial"/>
              </a:defRPr>
            </a:pPr>
            <a:r>
              <a:t>PROJECT OVERVIEW</a:t>
            </a:r>
          </a:p>
        </p:txBody>
      </p:sp>
      <p:sp>
        <p:nvSpPr>
          <p:cNvPr name="TextBox 5" id="5"/>
          <p:cNvSpPr txBox="true"/>
          <p:nvPr/>
        </p:nvSpPr>
        <p:spPr>
          <a:xfrm rot="0">
            <a:off x="1028700" y="6591122"/>
            <a:ext cx="6531756" cy="514416"/>
          </a:xfrm>
          <a:prstGeom prst="rect">
            <a:avLst/>
          </a:prstGeom>
        </p:spPr>
        <p:txBody>
          <a:bodyPr anchor="t" rtlCol="false" tIns="0" lIns="0" bIns="0" rIns="0">
            <a:spAutoFit/>
          </a:bodyPr>
          <a:lstStyle/>
          <a:p/>
        </p:txBody>
      </p:sp>
      <p:sp>
        <p:nvSpPr>
          <p:cNvPr name="TextBox 6" id="6"/>
          <p:cNvSpPr txBox="true"/>
          <p:nvPr/>
        </p:nvSpPr>
        <p:spPr>
          <a:xfrm rot="0">
            <a:off x="1028700" y="7530835"/>
            <a:ext cx="7241685" cy="1727465"/>
          </a:xfrm>
          <a:prstGeom prst="rect">
            <a:avLst/>
          </a:prstGeom>
        </p:spPr>
        <p:txBody>
          <a:bodyPr anchor="t" rtlCol="false" tIns="0" lIns="0" bIns="0" rIns="0">
            <a:spAutoFit/>
          </a:bodyPr>
          <a:lstStyle/>
          <a:p>
            <a:pPr algn="l">
              <a:lnSpc>
                <a:spcPts val="3499"/>
              </a:lnSpc>
              <a:spcBef>
                <a:spcPct val="0"/>
              </a:spcBef>
              <a:spcAft>
                <a:spcPts val="800"/>
              </a:spcAft>
            </a:pPr>
            <a:r>
              <a:rPr b="1" sz="1800">
                <a:solidFill>
                  <a:srgbClr val="0F2240"/>
                </a:solidFill>
              </a:rPr>
              <a:t>Problem Statement</a:t>
            </a:r>
          </a:p>
          <a:p>
            <a:pPr>
              <a:spcAft>
                <a:spcPts val="1800"/>
              </a:spcAft>
            </a:pPr>
            <a:r>
              <a:rPr sz="1300">
                <a:solidFill>
                  <a:srgbClr val="2D3748"/>
                </a:solidFill>
              </a:rPr>
              <a:t>Organizations are increasingly adopting Artificial Intelligence to improve business performance. This project analyzes AI adoption trends from 2015–2025 to understand their impact on productivity, revenue, cost savings, automation, and AI maturity.</a:t>
            </a:r>
          </a:p>
          <a:p>
            <a:pPr>
              <a:spcAft>
                <a:spcPts val="800"/>
              </a:spcAft>
            </a:pPr>
            <a:r>
              <a:rPr b="1" sz="1800">
                <a:solidFill>
                  <a:srgbClr val="0F2240"/>
                </a:solidFill>
              </a:rPr>
              <a:t>Objectives</a:t>
            </a:r>
          </a:p>
          <a:p>
            <a:pPr>
              <a:spcAft>
                <a:spcPts val="600"/>
              </a:spcAft>
            </a:pPr>
            <a:r>
              <a:rPr sz="1300">
                <a:solidFill>
                  <a:srgbClr val="2D3748"/>
                </a:solidFill>
              </a:rPr>
              <a:t>✔  Evaluate AI adoption trends and business performance between 2015-2025.</a:t>
            </a:r>
          </a:p>
          <a:p>
            <a:pPr>
              <a:spcAft>
                <a:spcPts val="600"/>
              </a:spcAft>
            </a:pPr>
            <a:r>
              <a:rPr sz="1300">
                <a:solidFill>
                  <a:srgbClr val="2D3748"/>
                </a:solidFill>
              </a:rPr>
              <a:t>✔  Perform thorough data cleaning, preprocessing, and outlier handling.</a:t>
            </a:r>
          </a:p>
          <a:p>
            <a:pPr>
              <a:spcAft>
                <a:spcPts val="600"/>
              </a:spcAft>
            </a:pPr>
            <a:r>
              <a:rPr sz="1300">
                <a:solidFill>
                  <a:srgbClr val="2D3748"/>
                </a:solidFill>
              </a:rPr>
              <a:t>✔  Conduct detailed exploratory data analysis to identify industry trends.</a:t>
            </a:r>
          </a:p>
          <a:p>
            <a:pPr>
              <a:spcAft>
                <a:spcPts val="600"/>
              </a:spcAft>
            </a:pPr>
            <a:r>
              <a:rPr sz="1300">
                <a:solidFill>
                  <a:srgbClr val="2D3748"/>
                </a:solidFill>
              </a:rPr>
              <a:t>✔  Analyze the operational impact of AI on productivity and cost savings.</a:t>
            </a:r>
          </a:p>
          <a:p>
            <a:pPr>
              <a:spcAft>
                <a:spcPts val="600"/>
              </a:spcAft>
            </a:pPr>
            <a:r>
              <a:rPr sz="1300">
                <a:solidFill>
                  <a:srgbClr val="2D3748"/>
                </a:solidFill>
              </a:rPr>
              <a:t>✔  Provide data-driven strategic insights and actionable recommendations.</a:t>
            </a:r>
          </a:p>
        </p:txBody>
      </p:sp>
      <p:sp>
        <p:nvSpPr>
          <p:cNvPr name="Freeform 7" id="7"/>
          <p:cNvSpPr/>
          <p:nvPr/>
        </p:nvSpPr>
        <p:spPr>
          <a:xfrm flipH="false" flipV="false" rot="0">
            <a:off x="11433102" y="1028700"/>
            <a:ext cx="1116395" cy="1116395"/>
          </a:xfrm>
          <a:custGeom>
            <a:avLst/>
            <a:gdLst/>
            <a:ahLst/>
            <a:cxnLst/>
            <a:rect r="r" b="b" t="t" l="l"/>
            <a:pathLst>
              <a:path h="1116395" w="1116395">
                <a:moveTo>
                  <a:pt x="0" y="0"/>
                </a:moveTo>
                <a:lnTo>
                  <a:pt x="1116396" y="0"/>
                </a:lnTo>
                <a:lnTo>
                  <a:pt x="1116396" y="1116395"/>
                </a:lnTo>
                <a:lnTo>
                  <a:pt x="0" y="111639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TextBox 2" id="2"/>
          <p:cNvSpPr txBox="true"/>
          <p:nvPr/>
        </p:nvSpPr>
        <p:spPr>
          <a:xfrm rot="0">
            <a:off x="7180974" y="847725"/>
            <a:ext cx="9507693" cy="1698692"/>
          </a:xfrm>
          <a:prstGeom prst="rect">
            <a:avLst/>
          </a:prstGeom>
        </p:spPr>
        <p:txBody>
          <a:bodyPr anchor="t" rtlCol="false" tIns="0" lIns="0" bIns="0" rIns="0">
            <a:spAutoFit/>
          </a:bodyPr>
          <a:lstStyle/>
          <a:p>
            <a:pPr>
              <a:defRPr b="1">
                <a:solidFill>
                  <a:srgbClr val="2563EB"/>
                </a:solidFill>
                <a:latin typeface="Arial"/>
              </a:defRPr>
            </a:pPr>
            <a:r>
              <a:t>DATASET</a:t>
            </a:r>
          </a:p>
        </p:txBody>
      </p:sp>
      <p:sp>
        <p:nvSpPr>
          <p:cNvPr name="TextBox 5" id="5"/>
          <p:cNvSpPr txBox="true"/>
          <p:nvPr/>
        </p:nvSpPr>
        <p:spPr>
          <a:xfrm rot="0">
            <a:off x="7180974" y="2365442"/>
            <a:ext cx="9507693" cy="1698692"/>
          </a:xfrm>
          <a:prstGeom prst="rect">
            <a:avLst/>
          </a:prstGeom>
        </p:spPr>
        <p:txBody>
          <a:bodyPr anchor="t" rtlCol="false" tIns="0" lIns="0" bIns="0" rIns="0">
            <a:spAutoFit/>
          </a:bodyPr>
          <a:lstStyle/>
          <a:p>
            <a:pPr>
              <a:defRPr b="1">
                <a:solidFill>
                  <a:srgbClr val="2563EB"/>
                </a:solidFill>
                <a:latin typeface="Arial"/>
              </a:defRPr>
            </a:pPr>
            <a:r>
              <a:t>DESCRIPTION</a:t>
            </a:r>
          </a:p>
        </p:txBody>
      </p:sp>
      <p:sp>
        <p:nvSpPr>
          <p:cNvPr name="TextBox 6" id="6"/>
          <p:cNvSpPr txBox="true"/>
          <p:nvPr/>
        </p:nvSpPr>
        <p:spPr>
          <a:xfrm rot="0">
            <a:off x="7180974" y="6862852"/>
            <a:ext cx="6531756" cy="514416"/>
          </a:xfrm>
          <a:prstGeom prst="rect">
            <a:avLst/>
          </a:prstGeom>
        </p:spPr>
        <p:txBody>
          <a:bodyPr anchor="t" rtlCol="false" tIns="0" lIns="0" bIns="0" rIns="0">
            <a:spAutoFit/>
          </a:bodyPr>
          <a:lstStyle/>
          <a:p>
            <a:pPr>
              <a:defRPr b="1" sz="1800">
                <a:solidFill>
                  <a:srgbClr val="0F2240"/>
                </a:solidFill>
                <a:latin typeface="Arial"/>
              </a:defRPr>
            </a:pPr>
            <a:r>
              <a:t>Dataset Information</a:t>
            </a:r>
          </a:p>
        </p:txBody>
      </p:sp>
      <p:sp>
        <p:nvSpPr>
          <p:cNvPr name="Freeform 8" id="8"/>
          <p:cNvSpPr/>
          <p:nvPr/>
        </p:nvSpPr>
        <p:spPr>
          <a:xfrm flipH="false" flipV="false" rot="0">
            <a:off x="15343524" y="2747078"/>
            <a:ext cx="1116395" cy="1116395"/>
          </a:xfrm>
          <a:custGeom>
            <a:avLst/>
            <a:gdLst/>
            <a:ahLst/>
            <a:cxnLst/>
            <a:rect r="r" b="b" t="t" l="l"/>
            <a:pathLst>
              <a:path h="1116395" w="1116395">
                <a:moveTo>
                  <a:pt x="0" y="0"/>
                </a:moveTo>
                <a:lnTo>
                  <a:pt x="1116396" y="0"/>
                </a:lnTo>
                <a:lnTo>
                  <a:pt x="1116396" y="1116395"/>
                </a:lnTo>
                <a:lnTo>
                  <a:pt x="0" y="111639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id="9" name="Rounded Rectangle 8"/>
          <p:cNvSpPr/>
          <p:nvPr/>
        </p:nvSpPr>
        <p:spPr>
          <a:xfrm>
            <a:off x="1024128" y="3291840"/>
            <a:ext cx="6858000" cy="5486400"/>
          </a:xfrm>
          <a:prstGeom prst="roundRect">
            <a:avLst/>
          </a:prstGeom>
          <a:noFill/>
          <a:ln w="31750">
            <a:solidFill>
              <a:srgbClr val="8A2B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3474720"/>
            <a:ext cx="6528816" cy="5120640"/>
          </a:xfrm>
          <a:prstGeom prst="rect">
            <a:avLst/>
          </a:prstGeom>
          <a:noFill/>
        </p:spPr>
        <p:txBody>
          <a:bodyPr wrap="square">
            <a:spAutoFit/>
          </a:bodyPr>
          <a:lstStyle/>
          <a:p>
            <a:pPr>
              <a:spcAft>
                <a:spcPts val="1400"/>
              </a:spcAft>
            </a:pPr>
            <a:r>
              <a:rPr b="1" sz="1500">
                <a:solidFill>
                  <a:srgbClr val="0F2240"/>
                </a:solidFill>
              </a:rPr>
              <a:t>📊  Total Records: </a:t>
            </a:r>
            <a:r>
              <a:rPr sz="1500">
                <a:solidFill>
                  <a:srgbClr val="2D3748"/>
                </a:solidFill>
              </a:rPr>
              <a:t>104,845 rows</a:t>
            </a:r>
          </a:p>
          <a:p>
            <a:pPr>
              <a:spcAft>
                <a:spcPts val="1400"/>
              </a:spcAft>
            </a:pPr>
            <a:r>
              <a:rPr b="1" sz="1500">
                <a:solidFill>
                  <a:srgbClr val="0F2240"/>
                </a:solidFill>
              </a:rPr>
              <a:t>🏢  Companies: </a:t>
            </a:r>
            <a:r>
              <a:rPr sz="1500">
                <a:solidFill>
                  <a:srgbClr val="2D3748"/>
                </a:solidFill>
              </a:rPr>
              <a:t>8,000 unique corporate IDs</a:t>
            </a:r>
          </a:p>
          <a:p>
            <a:pPr>
              <a:spcAft>
                <a:spcPts val="1400"/>
              </a:spcAft>
            </a:pPr>
            <a:r>
              <a:rPr b="1" sz="1500">
                <a:solidFill>
                  <a:srgbClr val="0F2240"/>
                </a:solidFill>
              </a:rPr>
              <a:t>🏭  Industries: </a:t>
            </a:r>
            <a:r>
              <a:rPr sz="1500">
                <a:solidFill>
                  <a:srgbClr val="2D3748"/>
                </a:solidFill>
              </a:rPr>
              <a:t>10 distinct sectors</a:t>
            </a:r>
          </a:p>
          <a:p>
            <a:pPr>
              <a:spcAft>
                <a:spcPts val="1400"/>
              </a:spcAft>
            </a:pPr>
            <a:r>
              <a:rPr b="1" sz="1500">
                <a:solidFill>
                  <a:srgbClr val="0F2240"/>
                </a:solidFill>
              </a:rPr>
              <a:t>🌍  Countries: </a:t>
            </a:r>
            <a:r>
              <a:rPr sz="1500">
                <a:solidFill>
                  <a:srgbClr val="2D3748"/>
                </a:solidFill>
              </a:rPr>
              <a:t>15 unique nations</a:t>
            </a:r>
          </a:p>
          <a:p>
            <a:pPr>
              <a:spcAft>
                <a:spcPts val="1400"/>
              </a:spcAft>
            </a:pPr>
            <a:r>
              <a:rPr b="1" sz="1500">
                <a:solidFill>
                  <a:srgbClr val="0F2240"/>
                </a:solidFill>
              </a:rPr>
              <a:t>📅  Time Period: </a:t>
            </a:r>
            <a:r>
              <a:rPr sz="1500">
                <a:solidFill>
                  <a:srgbClr val="2D3748"/>
                </a:solidFill>
              </a:rPr>
              <a:t>2015 – 2025</a:t>
            </a:r>
          </a:p>
          <a:p>
            <a:pPr>
              <a:spcAft>
                <a:spcPts val="1400"/>
              </a:spcAft>
            </a:pPr>
            <a:r>
              <a:rPr b="1" sz="1500">
                <a:solidFill>
                  <a:srgbClr val="0F2240"/>
                </a:solidFill>
              </a:rPr>
              <a:t>📋  Features: </a:t>
            </a:r>
            <a:r>
              <a:rPr sz="1500">
                <a:solidFill>
                  <a:srgbClr val="2D3748"/>
                </a:solidFill>
              </a:rPr>
              <a:t>13 metrics tracked</a:t>
            </a:r>
          </a:p>
        </p:txBody>
      </p:sp>
      <p:pic>
        <p:nvPicPr>
          <p:cNvPr id="11" name="Picture 10" descr="plot_df_head.png"/>
          <p:cNvPicPr>
            <a:picLocks noChangeAspect="1"/>
          </p:cNvPicPr>
          <p:nvPr/>
        </p:nvPicPr>
        <p:blipFill>
          <a:blip r:embed="rId2"/>
          <a:stretch>
            <a:fillRect/>
          </a:stretch>
        </p:blipFill>
        <p:spPr>
          <a:xfrm>
            <a:off x="8595360" y="3291840"/>
            <a:ext cx="8961120" cy="54864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12288492" y="1381761"/>
            <a:ext cx="1116395" cy="1116395"/>
          </a:xfrm>
          <a:custGeom>
            <a:avLst/>
            <a:gdLst/>
            <a:ahLst/>
            <a:cxnLst/>
            <a:rect r="r" b="b" t="t" l="l"/>
            <a:pathLst>
              <a:path h="1116395" w="1116395">
                <a:moveTo>
                  <a:pt x="0" y="0"/>
                </a:moveTo>
                <a:lnTo>
                  <a:pt x="1116395" y="0"/>
                </a:lnTo>
                <a:lnTo>
                  <a:pt x="1116395" y="1116395"/>
                </a:lnTo>
                <a:lnTo>
                  <a:pt x="0" y="11163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sp>
        <p:nvSpPr>
          <p:cNvPr name="TextBox 5" id="5"/>
          <p:cNvSpPr txBox="true"/>
          <p:nvPr/>
        </p:nvSpPr>
        <p:spPr>
          <a:xfrm rot="0">
            <a:off x="1181100" y="1000125"/>
            <a:ext cx="11107392" cy="1698692"/>
          </a:xfrm>
          <a:prstGeom prst="rect">
            <a:avLst/>
          </a:prstGeom>
        </p:spPr>
        <p:txBody>
          <a:bodyPr anchor="t" rtlCol="false" tIns="0" lIns="0" bIns="0" rIns="0">
            <a:spAutoFit/>
          </a:bodyPr>
          <a:lstStyle/>
          <a:p>
            <a:pPr>
              <a:defRPr b="1">
                <a:solidFill>
                  <a:srgbClr val="2563EB"/>
                </a:solidFill>
                <a:latin typeface="Arial"/>
              </a:defRPr>
            </a:pPr>
            <a:r>
              <a:t>DATA CLEANING &amp;</a:t>
            </a:r>
          </a:p>
        </p:txBody>
      </p:sp>
      <p:sp>
        <p:nvSpPr>
          <p:cNvPr name="TextBox 6" id="6"/>
          <p:cNvSpPr txBox="true"/>
          <p:nvPr/>
        </p:nvSpPr>
        <p:spPr>
          <a:xfrm rot="0">
            <a:off x="1181100" y="2517842"/>
            <a:ext cx="10345630" cy="1698692"/>
          </a:xfrm>
          <a:prstGeom prst="rect">
            <a:avLst/>
          </a:prstGeom>
        </p:spPr>
        <p:txBody>
          <a:bodyPr anchor="t" rtlCol="false" tIns="0" lIns="0" bIns="0" rIns="0">
            <a:spAutoFit/>
          </a:bodyPr>
          <a:lstStyle/>
          <a:p>
            <a:pPr>
              <a:defRPr b="1">
                <a:solidFill>
                  <a:srgbClr val="2563EB"/>
                </a:solidFill>
                <a:latin typeface="Arial"/>
              </a:defRPr>
            </a:pPr>
            <a:r>
              <a:t>PREPROCESSING</a:t>
            </a:r>
          </a:p>
        </p:txBody>
      </p:sp>
      <p:sp>
        <p:nvSpPr>
          <p:cNvPr name="TextBox 7" id="7"/>
          <p:cNvSpPr txBox="true"/>
          <p:nvPr/>
        </p:nvSpPr>
        <p:spPr>
          <a:xfrm rot="0">
            <a:off x="1179576" y="3931920"/>
            <a:ext cx="6858000" cy="514416"/>
          </a:xfrm>
          <a:prstGeom prst="rect">
            <a:avLst/>
          </a:prstGeom>
        </p:spPr>
        <p:txBody>
          <a:bodyPr anchor="t" rtlCol="false" tIns="0" lIns="0" bIns="0" rIns="0">
            <a:spAutoFit/>
          </a:bodyPr>
          <a:lstStyle/>
          <a:p>
            <a:pPr>
              <a:defRPr b="1" sz="1800">
                <a:solidFill>
                  <a:srgbClr val="0F2240"/>
                </a:solidFill>
                <a:latin typeface="Arial"/>
              </a:defRPr>
            </a:pPr>
            <a:r>
              <a:t>Data Integrity Checks</a:t>
            </a:r>
          </a:p>
        </p:txBody>
      </p:sp>
      <p:sp>
        <p:nvSpPr>
          <p:cNvPr name="TextBox 8" id="8"/>
          <p:cNvSpPr txBox="true"/>
          <p:nvPr/>
        </p:nvSpPr>
        <p:spPr>
          <a:xfrm rot="0">
            <a:off x="1179576" y="4663440"/>
            <a:ext cx="6858000" cy="4114800"/>
          </a:xfrm>
          <a:prstGeom prst="rect">
            <a:avLst/>
          </a:prstGeom>
        </p:spPr>
        <p:txBody>
          <a:bodyPr anchor="t" rtlCol="false" tIns="0" lIns="0" bIns="0" rIns="0">
            <a:spAutoFit/>
          </a:bodyPr>
          <a:lstStyle/>
          <a:p>
            <a:pPr algn="l">
              <a:lnSpc>
                <a:spcPts val="3499"/>
              </a:lnSpc>
              <a:spcBef>
                <a:spcPct val="0"/>
              </a:spcBef>
              <a:spcAft>
                <a:spcPts val="1000"/>
              </a:spcAft>
              <a:defRPr sz="1300">
                <a:solidFill>
                  <a:srgbClr val="2D3748"/>
                </a:solidFill>
              </a:defRPr>
            </a:pPr>
            <a:r>
              <a:t>✔  Missing Values → 0 verified</a:t>
            </a:r>
          </a:p>
          <a:p>
            <a:pPr>
              <a:spcAft>
                <a:spcPts val="1000"/>
              </a:spcAft>
              <a:defRPr sz="1300">
                <a:solidFill>
                  <a:srgbClr val="2D3748"/>
                </a:solidFill>
              </a:defRPr>
            </a:pPr>
            <a:r>
              <a:t>✔  Duplicate Rows → 0 verified</a:t>
            </a:r>
          </a:p>
          <a:p>
            <a:pPr>
              <a:spcAft>
                <a:spcPts val="1000"/>
              </a:spcAft>
              <a:defRPr sz="1300">
                <a:solidFill>
                  <a:srgbClr val="2D3748"/>
                </a:solidFill>
              </a:defRPr>
            </a:pPr>
            <a:r>
              <a:t>✔  Correct Data Types (Floats &amp; Ints)</a:t>
            </a:r>
          </a:p>
          <a:p>
            <a:pPr>
              <a:spcAft>
                <a:spcPts val="1000"/>
              </a:spcAft>
              <a:defRPr sz="1300">
                <a:solidFill>
                  <a:srgbClr val="2D3748"/>
                </a:solidFill>
              </a:defRPr>
            </a:pPr>
            <a:r>
              <a:t>✔  Unique Categories Verified</a:t>
            </a:r>
          </a:p>
          <a:p>
            <a:pPr>
              <a:spcAft>
                <a:spcPts val="1000"/>
              </a:spcAft>
              <a:defRPr sz="1300">
                <a:solidFill>
                  <a:srgbClr val="2D3748"/>
                </a:solidFill>
              </a:defRPr>
            </a:pPr>
            <a:r>
              <a:t>✔  Outlier Detection &amp; Business Retention</a:t>
            </a:r>
          </a:p>
        </p:txBody>
      </p:sp>
      <p:pic>
        <p:nvPicPr>
          <p:cNvPr id="9" name="Picture 8" descr="plot_boxplot.png"/>
          <p:cNvPicPr>
            <a:picLocks noChangeAspect="1"/>
          </p:cNvPicPr>
          <p:nvPr/>
        </p:nvPicPr>
        <p:blipFill>
          <a:blip r:embed="rId2"/>
          <a:stretch>
            <a:fillRect/>
          </a:stretch>
        </p:blipFill>
        <p:spPr>
          <a:xfrm>
            <a:off x="8723376" y="3291840"/>
            <a:ext cx="8961120" cy="54864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TextBox 2" id="2"/>
          <p:cNvSpPr txBox="true"/>
          <p:nvPr/>
        </p:nvSpPr>
        <p:spPr>
          <a:xfrm rot="0">
            <a:off x="1028700" y="847725"/>
            <a:ext cx="9507693" cy="1698692"/>
          </a:xfrm>
          <a:prstGeom prst="rect">
            <a:avLst/>
          </a:prstGeom>
        </p:spPr>
        <p:txBody>
          <a:bodyPr anchor="t" rtlCol="false" tIns="0" lIns="0" bIns="0" rIns="0">
            <a:spAutoFit/>
          </a:bodyPr>
          <a:lstStyle/>
          <a:p>
            <a:pPr>
              <a:defRPr b="1">
                <a:solidFill>
                  <a:srgbClr val="2563EB"/>
                </a:solidFill>
                <a:latin typeface="Arial"/>
              </a:defRPr>
            </a:pPr>
            <a:r>
              <a:t>AI ADOPTION</a:t>
            </a:r>
          </a:p>
        </p:txBody>
      </p:sp>
      <p:sp>
        <p:nvSpPr>
          <p:cNvPr name="TextBox 3" id="3"/>
          <p:cNvSpPr txBox="true"/>
          <p:nvPr/>
        </p:nvSpPr>
        <p:spPr>
          <a:xfrm rot="0">
            <a:off x="1028700" y="2365442"/>
            <a:ext cx="10345630" cy="1698692"/>
          </a:xfrm>
          <a:prstGeom prst="rect">
            <a:avLst/>
          </a:prstGeom>
        </p:spPr>
        <p:txBody>
          <a:bodyPr anchor="t" rtlCol="false" tIns="0" lIns="0" bIns="0" rIns="0">
            <a:spAutoFit/>
          </a:bodyPr>
          <a:lstStyle/>
          <a:p>
            <a:pPr>
              <a:defRPr b="1">
                <a:solidFill>
                  <a:srgbClr val="2563EB"/>
                </a:solidFill>
                <a:latin typeface="Arial"/>
              </a:defRPr>
            </a:pPr>
            <a:r>
              <a:t>TREND</a:t>
            </a:r>
          </a:p>
        </p:txBody>
      </p:sp>
      <p:sp>
        <p:nvSpPr>
          <p:cNvPr name="Freeform 4" id="4"/>
          <p:cNvSpPr/>
          <p:nvPr/>
        </p:nvSpPr>
        <p:spPr>
          <a:xfrm flipH="false" flipV="false" rot="0">
            <a:off x="9681147" y="1229361"/>
            <a:ext cx="1116395" cy="1116395"/>
          </a:xfrm>
          <a:custGeom>
            <a:avLst/>
            <a:gdLst/>
            <a:ahLst/>
            <a:cxnLst/>
            <a:rect r="r" b="b" t="t" l="l"/>
            <a:pathLst>
              <a:path h="1116395" w="1116395">
                <a:moveTo>
                  <a:pt x="0" y="0"/>
                </a:moveTo>
                <a:lnTo>
                  <a:pt x="1116395" y="0"/>
                </a:lnTo>
                <a:lnTo>
                  <a:pt x="1116395" y="1116395"/>
                </a:lnTo>
                <a:lnTo>
                  <a:pt x="0" y="11163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sp>
        <p:nvSpPr>
          <p:cNvPr name="TextBox 5" id="5"/>
          <p:cNvSpPr txBox="true"/>
          <p:nvPr/>
        </p:nvSpPr>
        <p:spPr>
          <a:xfrm rot="0">
            <a:off x="1028700" y="6859521"/>
            <a:ext cx="6531756" cy="514416"/>
          </a:xfrm>
          <a:prstGeom prst="rect">
            <a:avLst/>
          </a:prstGeom>
        </p:spPr>
        <p:txBody>
          <a:bodyPr anchor="t" rtlCol="false" tIns="0" lIns="0" bIns="0" rIns="0">
            <a:spAutoFit/>
          </a:bodyPr>
          <a:lstStyle/>
          <a:p>
            <a:pPr>
              <a:defRPr b="1" sz="1800">
                <a:solidFill>
                  <a:srgbClr val="0F2240"/>
                </a:solidFill>
                <a:latin typeface="Arial"/>
              </a:defRPr>
            </a:pPr>
            <a:r>
              <a:t>Observation</a:t>
            </a:r>
          </a:p>
        </p:txBody>
      </p:sp>
      <p:sp>
        <p:nvSpPr>
          <p:cNvPr name="TextBox 6" id="6"/>
          <p:cNvSpPr txBox="true"/>
          <p:nvPr/>
        </p:nvSpPr>
        <p:spPr>
          <a:xfrm rot="0">
            <a:off x="1056227" y="7969051"/>
            <a:ext cx="8624920" cy="1289249"/>
          </a:xfrm>
          <a:prstGeom prst="rect">
            <a:avLst/>
          </a:prstGeom>
        </p:spPr>
        <p:txBody>
          <a:bodyPr anchor="t" rtlCol="false" tIns="0" lIns="0" bIns="0" rIns="0">
            <a:spAutoFit/>
          </a:bodyPr>
          <a:lstStyle/>
          <a:p>
            <a:pPr algn="l">
              <a:lnSpc>
                <a:spcPts val="3499"/>
              </a:lnSpc>
              <a:spcBef>
                <a:spcPct val="0"/>
              </a:spcBef>
              <a:spcAft>
                <a:spcPts val="1500"/>
              </a:spcAft>
            </a:pPr>
            <a:r>
              <a:rPr sz="1300">
                <a:solidFill>
                  <a:srgbClr val="2D3748"/>
                </a:solidFill>
              </a:rPr>
              <a:t>AI adoption has consistently grew steadily over the decade, rising from an average adoption index of 0.19 in 2015 to 0.53 in 2025.</a:t>
            </a:r>
          </a:p>
          <a:p>
            <a:pPr>
              <a:spcBef>
                <a:spcPts val="800"/>
              </a:spcBef>
              <a:spcAft>
                <a:spcPts val="0"/>
              </a:spcAft>
            </a:pPr>
            <a:r>
              <a:rPr b="1" sz="1400">
                <a:solidFill>
                  <a:srgbClr val="0096A6"/>
                </a:solidFill>
              </a:rPr>
              <a:t>Business Insight
</a:t>
            </a:r>
            <a:r>
              <a:rPr sz="1300">
                <a:solidFill>
                  <a:srgbClr val="2D3748"/>
                </a:solidFill>
              </a:rPr>
              <a:t>This highlights the continuous integration of AI technologies across corporate workflows, shifting AI from an experimental project to a core operational capability.</a:t>
            </a:r>
          </a:p>
        </p:txBody>
      </p:sp>
      <p:pic>
        <p:nvPicPr>
          <p:cNvPr id="7" name="Picture 6" descr="plot_trend.png"/>
          <p:cNvPicPr>
            <a:picLocks noChangeAspect="1"/>
          </p:cNvPicPr>
          <p:nvPr/>
        </p:nvPicPr>
        <p:blipFill>
          <a:blip r:embed="rId2"/>
          <a:stretch>
            <a:fillRect/>
          </a:stretch>
        </p:blipFill>
        <p:spPr>
          <a:xfrm>
            <a:off x="8727344" y="3288502"/>
            <a:ext cx="9307589" cy="7116391"/>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TextBox 2" id="2"/>
          <p:cNvSpPr txBox="true"/>
          <p:nvPr/>
        </p:nvSpPr>
        <p:spPr>
          <a:xfrm rot="0">
            <a:off x="1028700" y="847725"/>
            <a:ext cx="9507693" cy="1698692"/>
          </a:xfrm>
          <a:prstGeom prst="rect">
            <a:avLst/>
          </a:prstGeom>
        </p:spPr>
        <p:txBody>
          <a:bodyPr anchor="t" rtlCol="false" tIns="0" lIns="0" bIns="0" rIns="0">
            <a:spAutoFit/>
          </a:bodyPr>
          <a:lstStyle/>
          <a:p>
            <a:pPr>
              <a:defRPr b="1">
                <a:solidFill>
                  <a:srgbClr val="2563EB"/>
                </a:solidFill>
                <a:latin typeface="Arial"/>
              </a:defRPr>
            </a:pPr>
            <a:r>
              <a:t>AI ADOPTION &amp;</a:t>
            </a:r>
          </a:p>
        </p:txBody>
      </p:sp>
      <p:sp>
        <p:nvSpPr>
          <p:cNvPr name="TextBox 3" id="3"/>
          <p:cNvSpPr txBox="true"/>
          <p:nvPr/>
        </p:nvSpPr>
        <p:spPr>
          <a:xfrm rot="0">
            <a:off x="1028700" y="2365442"/>
            <a:ext cx="10345630" cy="1698692"/>
          </a:xfrm>
          <a:prstGeom prst="rect">
            <a:avLst/>
          </a:prstGeom>
        </p:spPr>
        <p:txBody>
          <a:bodyPr anchor="t" rtlCol="false" tIns="0" lIns="0" bIns="0" rIns="0">
            <a:spAutoFit/>
          </a:bodyPr>
          <a:lstStyle/>
          <a:p>
            <a:pPr>
              <a:defRPr b="1">
                <a:solidFill>
                  <a:srgbClr val="2563EB"/>
                </a:solidFill>
                <a:latin typeface="Arial"/>
              </a:defRPr>
            </a:pPr>
            <a:r>
              <a:t>INVESTMENT</a:t>
            </a:r>
          </a:p>
        </p:txBody>
      </p:sp>
      <p:sp>
        <p:nvSpPr>
          <p:cNvPr name="Freeform 4" id="4"/>
          <p:cNvSpPr/>
          <p:nvPr/>
        </p:nvSpPr>
        <p:spPr>
          <a:xfrm flipH="false" flipV="false" rot="0">
            <a:off x="9681147" y="1229361"/>
            <a:ext cx="1116395" cy="1116395"/>
          </a:xfrm>
          <a:custGeom>
            <a:avLst/>
            <a:gdLst/>
            <a:ahLst/>
            <a:cxnLst/>
            <a:rect r="r" b="b" t="t" l="l"/>
            <a:pathLst>
              <a:path h="1116395" w="1116395">
                <a:moveTo>
                  <a:pt x="0" y="0"/>
                </a:moveTo>
                <a:lnTo>
                  <a:pt x="1116395" y="0"/>
                </a:lnTo>
                <a:lnTo>
                  <a:pt x="1116395" y="1116395"/>
                </a:lnTo>
                <a:lnTo>
                  <a:pt x="0" y="11163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sp>
        <p:nvSpPr>
          <p:cNvPr name="TextBox 5" id="5"/>
          <p:cNvSpPr txBox="true"/>
          <p:nvPr/>
        </p:nvSpPr>
        <p:spPr>
          <a:xfrm rot="0">
            <a:off x="1028700" y="6859521"/>
            <a:ext cx="6531756" cy="514416"/>
          </a:xfrm>
          <a:prstGeom prst="rect">
            <a:avLst/>
          </a:prstGeom>
        </p:spPr>
        <p:txBody>
          <a:bodyPr anchor="t" rtlCol="false" tIns="0" lIns="0" bIns="0" rIns="0">
            <a:spAutoFit/>
          </a:bodyPr>
          <a:lstStyle/>
          <a:p>
            <a:pPr>
              <a:defRPr b="1" sz="1800">
                <a:solidFill>
                  <a:srgbClr val="0F2240"/>
                </a:solidFill>
                <a:latin typeface="Arial"/>
              </a:defRPr>
            </a:pPr>
            <a:r>
              <a:t>Observation</a:t>
            </a:r>
          </a:p>
        </p:txBody>
      </p:sp>
      <p:sp>
        <p:nvSpPr>
          <p:cNvPr name="TextBox 6" id="6"/>
          <p:cNvSpPr txBox="true"/>
          <p:nvPr/>
        </p:nvSpPr>
        <p:spPr>
          <a:xfrm rot="0">
            <a:off x="1056227" y="7969051"/>
            <a:ext cx="8624920" cy="1289249"/>
          </a:xfrm>
          <a:prstGeom prst="rect">
            <a:avLst/>
          </a:prstGeom>
        </p:spPr>
        <p:txBody>
          <a:bodyPr anchor="t" rtlCol="false" tIns="0" lIns="0" bIns="0" rIns="0">
            <a:spAutoFit/>
          </a:bodyPr>
          <a:lstStyle/>
          <a:p>
            <a:pPr algn="l">
              <a:lnSpc>
                <a:spcPts val="3499"/>
              </a:lnSpc>
              <a:spcBef>
                <a:spcPct val="0"/>
              </a:spcBef>
              <a:spcAft>
                <a:spcPts val="1500"/>
              </a:spcAft>
            </a:pPr>
            <a:r>
              <a:rPr sz="1300">
                <a:solidFill>
                  <a:srgbClr val="2D3748"/>
                </a:solidFill>
              </a:rPr>
              <a:t>Average AI adoption level remains remarkably uniform across all 10 industry sectors (around 0.35-0.36 index level).</a:t>
            </a:r>
          </a:p>
          <a:p>
            <a:pPr>
              <a:spcBef>
                <a:spcPts val="800"/>
              </a:spcBef>
              <a:spcAft>
                <a:spcPts val="0"/>
              </a:spcAft>
            </a:pPr>
            <a:r>
              <a:rPr b="1" sz="1400">
                <a:solidFill>
                  <a:srgbClr val="0096A6"/>
                </a:solidFill>
              </a:rPr>
              <a:t>Business Insight
</a:t>
            </a:r>
            <a:r>
              <a:rPr sz="1300">
                <a:solidFill>
                  <a:srgbClr val="2D3748"/>
                </a:solidFill>
              </a:rPr>
              <a:t>However, financial backing diverges heavily. Financial Services invests the most in AI (average exceeding $6.19M), followed by Technology ($4.92M), while Education ranks last ($0.61M).</a:t>
            </a:r>
          </a:p>
        </p:txBody>
      </p:sp>
      <p:pic>
        <p:nvPicPr>
          <p:cNvPr id="7" name="Picture 6" descr="plot_ind_adopt_inv.png"/>
          <p:cNvPicPr>
            <a:picLocks noChangeAspect="1"/>
          </p:cNvPicPr>
          <p:nvPr/>
        </p:nvPicPr>
        <p:blipFill>
          <a:blip r:embed="rId2"/>
          <a:stretch>
            <a:fillRect/>
          </a:stretch>
        </p:blipFill>
        <p:spPr>
          <a:xfrm>
            <a:off x="8727344" y="3288502"/>
            <a:ext cx="9307589" cy="7116391"/>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TextBox 2" id="2"/>
          <p:cNvSpPr txBox="true"/>
          <p:nvPr/>
        </p:nvSpPr>
        <p:spPr>
          <a:xfrm rot="0">
            <a:off x="1028700" y="847725"/>
            <a:ext cx="9507693" cy="1698692"/>
          </a:xfrm>
          <a:prstGeom prst="rect">
            <a:avLst/>
          </a:prstGeom>
        </p:spPr>
        <p:txBody>
          <a:bodyPr anchor="t" rtlCol="false" tIns="0" lIns="0" bIns="0" rIns="0">
            <a:spAutoFit/>
          </a:bodyPr>
          <a:lstStyle/>
          <a:p>
            <a:pPr>
              <a:defRPr b="1">
                <a:solidFill>
                  <a:srgbClr val="2563EB"/>
                </a:solidFill>
                <a:latin typeface="Arial"/>
              </a:defRPr>
            </a:pPr>
            <a:r>
              <a:t>COUNTRY</a:t>
            </a:r>
          </a:p>
        </p:txBody>
      </p:sp>
      <p:sp>
        <p:nvSpPr>
          <p:cNvPr name="TextBox 3" id="3"/>
          <p:cNvSpPr txBox="true"/>
          <p:nvPr/>
        </p:nvSpPr>
        <p:spPr>
          <a:xfrm rot="0">
            <a:off x="1028700" y="2365442"/>
            <a:ext cx="10345630" cy="1698692"/>
          </a:xfrm>
          <a:prstGeom prst="rect">
            <a:avLst/>
          </a:prstGeom>
        </p:spPr>
        <p:txBody>
          <a:bodyPr anchor="t" rtlCol="false" tIns="0" lIns="0" bIns="0" rIns="0">
            <a:spAutoFit/>
          </a:bodyPr>
          <a:lstStyle/>
          <a:p>
            <a:pPr>
              <a:defRPr b="1">
                <a:solidFill>
                  <a:srgbClr val="2563EB"/>
                </a:solidFill>
                <a:latin typeface="Arial"/>
              </a:defRPr>
            </a:pPr>
            <a:r>
              <a:t>ANALYSIS</a:t>
            </a:r>
          </a:p>
        </p:txBody>
      </p:sp>
      <p:sp>
        <p:nvSpPr>
          <p:cNvPr name="Freeform 4" id="4"/>
          <p:cNvSpPr/>
          <p:nvPr/>
        </p:nvSpPr>
        <p:spPr>
          <a:xfrm flipH="false" flipV="false" rot="0">
            <a:off x="9681147" y="1229361"/>
            <a:ext cx="1116395" cy="1116395"/>
          </a:xfrm>
          <a:custGeom>
            <a:avLst/>
            <a:gdLst/>
            <a:ahLst/>
            <a:cxnLst/>
            <a:rect r="r" b="b" t="t" l="l"/>
            <a:pathLst>
              <a:path h="1116395" w="1116395">
                <a:moveTo>
                  <a:pt x="0" y="0"/>
                </a:moveTo>
                <a:lnTo>
                  <a:pt x="1116395" y="0"/>
                </a:lnTo>
                <a:lnTo>
                  <a:pt x="1116395" y="1116395"/>
                </a:lnTo>
                <a:lnTo>
                  <a:pt x="0" y="11163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sp>
        <p:nvSpPr>
          <p:cNvPr name="TextBox 5" id="5"/>
          <p:cNvSpPr txBox="true"/>
          <p:nvPr/>
        </p:nvSpPr>
        <p:spPr>
          <a:xfrm rot="0">
            <a:off x="1028700" y="6859521"/>
            <a:ext cx="6531756" cy="514416"/>
          </a:xfrm>
          <a:prstGeom prst="rect">
            <a:avLst/>
          </a:prstGeom>
        </p:spPr>
        <p:txBody>
          <a:bodyPr anchor="t" rtlCol="false" tIns="0" lIns="0" bIns="0" rIns="0">
            <a:spAutoFit/>
          </a:bodyPr>
          <a:lstStyle/>
          <a:p>
            <a:pPr>
              <a:defRPr b="1" sz="1800">
                <a:solidFill>
                  <a:srgbClr val="0F2240"/>
                </a:solidFill>
                <a:latin typeface="Arial"/>
              </a:defRPr>
            </a:pPr>
            <a:r>
              <a:t>Observation</a:t>
            </a:r>
          </a:p>
        </p:txBody>
      </p:sp>
      <p:sp>
        <p:nvSpPr>
          <p:cNvPr name="TextBox 6" id="6"/>
          <p:cNvSpPr txBox="true"/>
          <p:nvPr/>
        </p:nvSpPr>
        <p:spPr>
          <a:xfrm rot="0">
            <a:off x="1056227" y="7969051"/>
            <a:ext cx="8624920" cy="1289249"/>
          </a:xfrm>
          <a:prstGeom prst="rect">
            <a:avLst/>
          </a:prstGeom>
        </p:spPr>
        <p:txBody>
          <a:bodyPr anchor="t" rtlCol="false" tIns="0" lIns="0" bIns="0" rIns="0">
            <a:spAutoFit/>
          </a:bodyPr>
          <a:lstStyle/>
          <a:p>
            <a:pPr algn="l">
              <a:lnSpc>
                <a:spcPts val="3499"/>
              </a:lnSpc>
              <a:spcBef>
                <a:spcPct val="0"/>
              </a:spcBef>
              <a:spcAft>
                <a:spcPts val="1500"/>
              </a:spcAft>
            </a:pPr>
            <a:r>
              <a:rPr sz="1300">
                <a:solidFill>
                  <a:srgbClr val="2D3748"/>
                </a:solidFill>
              </a:rPr>
              <a:t>The United States leads the average global corporate AI investment at $4.64 million, with Singapore ($3.89M) and China ($3.88M) ranking next.</a:t>
            </a:r>
          </a:p>
          <a:p>
            <a:pPr>
              <a:spcBef>
                <a:spcPts val="800"/>
              </a:spcBef>
              <a:spcAft>
                <a:spcPts val="0"/>
              </a:spcAft>
            </a:pPr>
            <a:r>
              <a:rPr b="1" sz="1400">
                <a:solidFill>
                  <a:srgbClr val="0096A6"/>
                </a:solidFill>
              </a:rPr>
              <a:t>Business Insight
</a:t>
            </a:r>
            <a:r>
              <a:rPr sz="1300">
                <a:solidFill>
                  <a:srgbClr val="2D3748"/>
                </a:solidFill>
              </a:rPr>
              <a:t>Brazil ($1.96M) and India ($2.33M) show lower average investment levels. These developing markets represent massive future scaling opportunities.</a:t>
            </a:r>
          </a:p>
        </p:txBody>
      </p:sp>
      <p:pic>
        <p:nvPicPr>
          <p:cNvPr id="7" name="Picture 6" descr="plot_country_inv.png"/>
          <p:cNvPicPr>
            <a:picLocks noChangeAspect="1"/>
          </p:cNvPicPr>
          <p:nvPr/>
        </p:nvPicPr>
        <p:blipFill>
          <a:blip r:embed="rId2"/>
          <a:stretch>
            <a:fillRect/>
          </a:stretch>
        </p:blipFill>
        <p:spPr>
          <a:xfrm>
            <a:off x="8727344" y="3288502"/>
            <a:ext cx="9307589" cy="7116391"/>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TextBox 2" id="2"/>
          <p:cNvSpPr txBox="true"/>
          <p:nvPr/>
        </p:nvSpPr>
        <p:spPr>
          <a:xfrm rot="0">
            <a:off x="1028700" y="847725"/>
            <a:ext cx="9507693" cy="1698692"/>
          </a:xfrm>
          <a:prstGeom prst="rect">
            <a:avLst/>
          </a:prstGeom>
        </p:spPr>
        <p:txBody>
          <a:bodyPr anchor="t" rtlCol="false" tIns="0" lIns="0" bIns="0" rIns="0">
            <a:spAutoFit/>
          </a:bodyPr>
          <a:lstStyle/>
          <a:p>
            <a:pPr>
              <a:defRPr b="1">
                <a:solidFill>
                  <a:srgbClr val="2563EB"/>
                </a:solidFill>
                <a:latin typeface="Arial"/>
              </a:defRPr>
            </a:pPr>
            <a:r>
              <a:t>BUSINESS</a:t>
            </a:r>
          </a:p>
        </p:txBody>
      </p:sp>
      <p:sp>
        <p:nvSpPr>
          <p:cNvPr name="TextBox 3" id="3"/>
          <p:cNvSpPr txBox="true"/>
          <p:nvPr/>
        </p:nvSpPr>
        <p:spPr>
          <a:xfrm rot="0">
            <a:off x="1028700" y="2365442"/>
            <a:ext cx="10345630" cy="1698692"/>
          </a:xfrm>
          <a:prstGeom prst="rect">
            <a:avLst/>
          </a:prstGeom>
        </p:spPr>
        <p:txBody>
          <a:bodyPr anchor="t" rtlCol="false" tIns="0" lIns="0" bIns="0" rIns="0">
            <a:spAutoFit/>
          </a:bodyPr>
          <a:lstStyle/>
          <a:p>
            <a:pPr>
              <a:defRPr b="1">
                <a:solidFill>
                  <a:srgbClr val="2563EB"/>
                </a:solidFill>
                <a:latin typeface="Arial"/>
              </a:defRPr>
            </a:pPr>
            <a:r>
              <a:t>PERFORMANCE</a:t>
            </a:r>
          </a:p>
        </p:txBody>
      </p:sp>
      <p:sp>
        <p:nvSpPr>
          <p:cNvPr name="Freeform 4" id="4"/>
          <p:cNvSpPr/>
          <p:nvPr/>
        </p:nvSpPr>
        <p:spPr>
          <a:xfrm flipH="false" flipV="false" rot="0">
            <a:off x="9681147" y="1229361"/>
            <a:ext cx="1116395" cy="1116395"/>
          </a:xfrm>
          <a:custGeom>
            <a:avLst/>
            <a:gdLst/>
            <a:ahLst/>
            <a:cxnLst/>
            <a:rect r="r" b="b" t="t" l="l"/>
            <a:pathLst>
              <a:path h="1116395" w="1116395">
                <a:moveTo>
                  <a:pt x="0" y="0"/>
                </a:moveTo>
                <a:lnTo>
                  <a:pt x="1116395" y="0"/>
                </a:lnTo>
                <a:lnTo>
                  <a:pt x="1116395" y="1116395"/>
                </a:lnTo>
                <a:lnTo>
                  <a:pt x="0" y="11163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sp>
        <p:nvSpPr>
          <p:cNvPr name="TextBox 5" id="5"/>
          <p:cNvSpPr txBox="true"/>
          <p:nvPr/>
        </p:nvSpPr>
        <p:spPr>
          <a:xfrm rot="0">
            <a:off x="1028700" y="6859521"/>
            <a:ext cx="6531756" cy="514416"/>
          </a:xfrm>
          <a:prstGeom prst="rect">
            <a:avLst/>
          </a:prstGeom>
        </p:spPr>
        <p:txBody>
          <a:bodyPr anchor="t" rtlCol="false" tIns="0" lIns="0" bIns="0" rIns="0">
            <a:spAutoFit/>
          </a:bodyPr>
          <a:lstStyle/>
          <a:p>
            <a:pPr>
              <a:defRPr b="1" sz="1800">
                <a:solidFill>
                  <a:srgbClr val="0F2240"/>
                </a:solidFill>
                <a:latin typeface="Arial"/>
              </a:defRPr>
            </a:pPr>
            <a:r>
              <a:t>Observation</a:t>
            </a:r>
          </a:p>
        </p:txBody>
      </p:sp>
      <p:sp>
        <p:nvSpPr>
          <p:cNvPr name="TextBox 6" id="6"/>
          <p:cNvSpPr txBox="true"/>
          <p:nvPr/>
        </p:nvSpPr>
        <p:spPr>
          <a:xfrm rot="0">
            <a:off x="1056227" y="7969051"/>
            <a:ext cx="8624920" cy="1289249"/>
          </a:xfrm>
          <a:prstGeom prst="rect">
            <a:avLst/>
          </a:prstGeom>
        </p:spPr>
        <p:txBody>
          <a:bodyPr anchor="t" rtlCol="false" tIns="0" lIns="0" bIns="0" rIns="0">
            <a:spAutoFit/>
          </a:bodyPr>
          <a:lstStyle/>
          <a:p>
            <a:pPr algn="l">
              <a:lnSpc>
                <a:spcPts val="3499"/>
              </a:lnSpc>
              <a:spcBef>
                <a:spcPct val="0"/>
              </a:spcBef>
              <a:spcAft>
                <a:spcPts val="1500"/>
              </a:spcAft>
            </a:pPr>
            <a:r>
              <a:rPr sz="1300">
                <a:solidFill>
                  <a:srgbClr val="2D3748"/>
                </a:solidFill>
              </a:rPr>
              <a:t>Technology achieves the highest average revenue impact ($3.13M) and cost savings ($2.52M). Financial Services follows as the second highest financial performer.</a:t>
            </a:r>
          </a:p>
          <a:p>
            <a:pPr>
              <a:spcBef>
                <a:spcPts val="800"/>
              </a:spcBef>
              <a:spcAft>
                <a:spcPts val="0"/>
              </a:spcAft>
            </a:pPr>
            <a:r>
              <a:rPr b="1" sz="1400">
                <a:solidFill>
                  <a:srgbClr val="0096A6"/>
                </a:solidFill>
              </a:rPr>
              <a:t>Business Insight
</a:t>
            </a:r>
            <a:r>
              <a:rPr sz="1300">
                <a:solidFill>
                  <a:srgbClr val="2D3748"/>
                </a:solidFill>
              </a:rPr>
              <a:t>Conversely, Education records the lowest average revenue impact ($0.14M) and cost savings ($0.11M), showing that returns are sector-dependent.</a:t>
            </a:r>
          </a:p>
        </p:txBody>
      </p:sp>
      <p:pic>
        <p:nvPicPr>
          <p:cNvPr id="7" name="Picture 6" descr="plot_ind_perf.png"/>
          <p:cNvPicPr>
            <a:picLocks noChangeAspect="1"/>
          </p:cNvPicPr>
          <p:nvPr/>
        </p:nvPicPr>
        <p:blipFill>
          <a:blip r:embed="rId2"/>
          <a:stretch>
            <a:fillRect/>
          </a:stretch>
        </p:blipFill>
        <p:spPr>
          <a:xfrm>
            <a:off x="8727344" y="3288502"/>
            <a:ext cx="9307589" cy="7116391"/>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TextBox 2" id="2"/>
          <p:cNvSpPr txBox="true"/>
          <p:nvPr/>
        </p:nvSpPr>
        <p:spPr>
          <a:xfrm rot="0">
            <a:off x="1028700" y="847725"/>
            <a:ext cx="9507693" cy="1698692"/>
          </a:xfrm>
          <a:prstGeom prst="rect">
            <a:avLst/>
          </a:prstGeom>
        </p:spPr>
        <p:txBody>
          <a:bodyPr anchor="t" rtlCol="false" tIns="0" lIns="0" bIns="0" rIns="0">
            <a:spAutoFit/>
          </a:bodyPr>
          <a:lstStyle/>
          <a:p>
            <a:pPr>
              <a:defRPr b="1">
                <a:solidFill>
                  <a:srgbClr val="2563EB"/>
                </a:solidFill>
                <a:latin typeface="Arial"/>
              </a:defRPr>
            </a:pPr>
            <a:r>
              <a:t>PRODUCTIVITY</a:t>
            </a:r>
          </a:p>
        </p:txBody>
      </p:sp>
      <p:sp>
        <p:nvSpPr>
          <p:cNvPr name="TextBox 3" id="3"/>
          <p:cNvSpPr txBox="true"/>
          <p:nvPr/>
        </p:nvSpPr>
        <p:spPr>
          <a:xfrm rot="0">
            <a:off x="1028700" y="2365442"/>
            <a:ext cx="10345630" cy="1698692"/>
          </a:xfrm>
          <a:prstGeom prst="rect">
            <a:avLst/>
          </a:prstGeom>
        </p:spPr>
        <p:txBody>
          <a:bodyPr anchor="t" rtlCol="false" tIns="0" lIns="0" bIns="0" rIns="0">
            <a:spAutoFit/>
          </a:bodyPr>
          <a:lstStyle/>
          <a:p>
            <a:pPr>
              <a:defRPr b="1">
                <a:solidFill>
                  <a:srgbClr val="2563EB"/>
                </a:solidFill>
                <a:latin typeface="Arial"/>
              </a:defRPr>
            </a:pPr>
            <a:r>
              <a:t>ANALYSIS</a:t>
            </a:r>
          </a:p>
        </p:txBody>
      </p:sp>
      <p:sp>
        <p:nvSpPr>
          <p:cNvPr name="Freeform 4" id="4"/>
          <p:cNvSpPr/>
          <p:nvPr/>
        </p:nvSpPr>
        <p:spPr>
          <a:xfrm flipH="false" flipV="false" rot="0">
            <a:off x="9681147" y="1229361"/>
            <a:ext cx="1116395" cy="1116395"/>
          </a:xfrm>
          <a:custGeom>
            <a:avLst/>
            <a:gdLst/>
            <a:ahLst/>
            <a:cxnLst/>
            <a:rect r="r" b="b" t="t" l="l"/>
            <a:pathLst>
              <a:path h="1116395" w="1116395">
                <a:moveTo>
                  <a:pt x="0" y="0"/>
                </a:moveTo>
                <a:lnTo>
                  <a:pt x="1116395" y="0"/>
                </a:lnTo>
                <a:lnTo>
                  <a:pt x="1116395" y="1116395"/>
                </a:lnTo>
                <a:lnTo>
                  <a:pt x="0" y="11163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sp>
        <p:nvSpPr>
          <p:cNvPr name="TextBox 5" id="5"/>
          <p:cNvSpPr txBox="true"/>
          <p:nvPr/>
        </p:nvSpPr>
        <p:spPr>
          <a:xfrm rot="0">
            <a:off x="1028700" y="6859521"/>
            <a:ext cx="6531756" cy="514416"/>
          </a:xfrm>
          <a:prstGeom prst="rect">
            <a:avLst/>
          </a:prstGeom>
        </p:spPr>
        <p:txBody>
          <a:bodyPr anchor="t" rtlCol="false" tIns="0" lIns="0" bIns="0" rIns="0">
            <a:spAutoFit/>
          </a:bodyPr>
          <a:lstStyle/>
          <a:p>
            <a:pPr>
              <a:defRPr b="1" sz="1800">
                <a:solidFill>
                  <a:srgbClr val="0F2240"/>
                </a:solidFill>
                <a:latin typeface="Arial"/>
              </a:defRPr>
            </a:pPr>
            <a:r>
              <a:t>Observation</a:t>
            </a:r>
          </a:p>
        </p:txBody>
      </p:sp>
      <p:sp>
        <p:nvSpPr>
          <p:cNvPr name="TextBox 6" id="6"/>
          <p:cNvSpPr txBox="true"/>
          <p:nvPr/>
        </p:nvSpPr>
        <p:spPr>
          <a:xfrm rot="0">
            <a:off x="1056227" y="7969051"/>
            <a:ext cx="8624920" cy="1289249"/>
          </a:xfrm>
          <a:prstGeom prst="rect">
            <a:avLst/>
          </a:prstGeom>
        </p:spPr>
        <p:txBody>
          <a:bodyPr anchor="t" rtlCol="false" tIns="0" lIns="0" bIns="0" rIns="0">
            <a:spAutoFit/>
          </a:bodyPr>
          <a:lstStyle/>
          <a:p>
            <a:pPr algn="l">
              <a:lnSpc>
                <a:spcPts val="3499"/>
              </a:lnSpc>
              <a:spcBef>
                <a:spcPct val="0"/>
              </a:spcBef>
              <a:spcAft>
                <a:spcPts val="1500"/>
              </a:spcAft>
            </a:pPr>
            <a:r>
              <a:rPr sz="1300">
                <a:solidFill>
                  <a:srgbClr val="2D3748"/>
                </a:solidFill>
              </a:rPr>
              <a:t>Manufacturing and Logistics sectors record the highest average productivity gains (0.30 index gain), followed closely by Energy (0.29).</a:t>
            </a:r>
          </a:p>
          <a:p>
            <a:pPr>
              <a:spcBef>
                <a:spcPts val="800"/>
              </a:spcBef>
              <a:spcAft>
                <a:spcPts val="0"/>
              </a:spcAft>
            </a:pPr>
            <a:r>
              <a:rPr b="1" sz="1400">
                <a:solidFill>
                  <a:srgbClr val="0096A6"/>
                </a:solidFill>
              </a:rPr>
              <a:t>Business Insight
</a:t>
            </a:r>
            <a:r>
              <a:rPr sz="1300">
                <a:solidFill>
                  <a:srgbClr val="2D3748"/>
                </a:solidFill>
              </a:rPr>
              <a:t>Physical asset operations gain the most efficiency from AI process automation and logistical resource optimization.</a:t>
            </a:r>
          </a:p>
        </p:txBody>
      </p:sp>
      <p:pic>
        <p:nvPicPr>
          <p:cNvPr id="7" name="Picture 6" descr="plot_ind_prod.png"/>
          <p:cNvPicPr>
            <a:picLocks noChangeAspect="1"/>
          </p:cNvPicPr>
          <p:nvPr/>
        </p:nvPicPr>
        <p:blipFill>
          <a:blip r:embed="rId2"/>
          <a:stretch>
            <a:fillRect/>
          </a:stretch>
        </p:blipFill>
        <p:spPr>
          <a:xfrm>
            <a:off x="8727344" y="3288502"/>
            <a:ext cx="9307589" cy="7116391"/>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12288492" y="1381761"/>
            <a:ext cx="1116395" cy="1116395"/>
          </a:xfrm>
          <a:custGeom>
            <a:avLst/>
            <a:gdLst/>
            <a:ahLst/>
            <a:cxnLst/>
            <a:rect r="r" b="b" t="t" l="l"/>
            <a:pathLst>
              <a:path h="1116395" w="1116395">
                <a:moveTo>
                  <a:pt x="0" y="0"/>
                </a:moveTo>
                <a:lnTo>
                  <a:pt x="1116395" y="0"/>
                </a:lnTo>
                <a:lnTo>
                  <a:pt x="1116395" y="1116395"/>
                </a:lnTo>
                <a:lnTo>
                  <a:pt x="0" y="11163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sp>
        <p:nvSpPr>
          <p:cNvPr name="TextBox 5" id="5"/>
          <p:cNvSpPr txBox="true"/>
          <p:nvPr/>
        </p:nvSpPr>
        <p:spPr>
          <a:xfrm rot="0">
            <a:off x="1181100" y="1000125"/>
            <a:ext cx="11107392" cy="1698692"/>
          </a:xfrm>
          <a:prstGeom prst="rect">
            <a:avLst/>
          </a:prstGeom>
        </p:spPr>
        <p:txBody>
          <a:bodyPr anchor="t" rtlCol="false" tIns="0" lIns="0" bIns="0" rIns="0">
            <a:spAutoFit/>
          </a:bodyPr>
          <a:lstStyle/>
          <a:p>
            <a:pPr>
              <a:defRPr b="1">
                <a:solidFill>
                  <a:srgbClr val="2563EB"/>
                </a:solidFill>
                <a:latin typeface="Arial"/>
              </a:defRPr>
            </a:pPr>
            <a:r>
              <a:t>RELATIONSHIP</a:t>
            </a:r>
          </a:p>
        </p:txBody>
      </p:sp>
      <p:sp>
        <p:nvSpPr>
          <p:cNvPr name="TextBox 6" id="6"/>
          <p:cNvSpPr txBox="true"/>
          <p:nvPr/>
        </p:nvSpPr>
        <p:spPr>
          <a:xfrm rot="0">
            <a:off x="1181100" y="2517842"/>
            <a:ext cx="10345630" cy="1698692"/>
          </a:xfrm>
          <a:prstGeom prst="rect">
            <a:avLst/>
          </a:prstGeom>
        </p:spPr>
        <p:txBody>
          <a:bodyPr anchor="t" rtlCol="false" tIns="0" lIns="0" bIns="0" rIns="0">
            <a:spAutoFit/>
          </a:bodyPr>
          <a:lstStyle/>
          <a:p>
            <a:pPr>
              <a:defRPr b="1">
                <a:solidFill>
                  <a:srgbClr val="2563EB"/>
                </a:solidFill>
                <a:latin typeface="Arial"/>
              </a:defRPr>
            </a:pPr>
            <a:r>
              <a:t>ANALYSIS</a:t>
            </a:r>
          </a:p>
        </p:txBody>
      </p:sp>
      <p:sp>
        <p:nvSpPr>
          <p:cNvPr name="TextBox 7" id="7"/>
          <p:cNvSpPr txBox="true"/>
          <p:nvPr/>
        </p:nvSpPr>
        <p:spPr>
          <a:xfrm rot="0">
            <a:off x="1179576" y="6217920"/>
            <a:ext cx="6858000" cy="514416"/>
          </a:xfrm>
          <a:prstGeom prst="rect">
            <a:avLst/>
          </a:prstGeom>
        </p:spPr>
        <p:txBody>
          <a:bodyPr anchor="t" rtlCol="false" tIns="0" lIns="0" bIns="0" rIns="0">
            <a:spAutoFit/>
          </a:bodyPr>
          <a:lstStyle/>
          <a:p>
            <a:pPr>
              <a:defRPr b="1" sz="1800">
                <a:solidFill>
                  <a:srgbClr val="0F2240"/>
                </a:solidFill>
                <a:latin typeface="Arial"/>
              </a:defRPr>
            </a:pPr>
            <a:r>
              <a:t>Key Relationships</a:t>
            </a:r>
          </a:p>
        </p:txBody>
      </p:sp>
      <p:sp>
        <p:nvSpPr>
          <p:cNvPr name="TextBox 8" id="8"/>
          <p:cNvSpPr txBox="true"/>
          <p:nvPr/>
        </p:nvSpPr>
        <p:spPr>
          <a:xfrm rot="0">
            <a:off x="1179576" y="6858000"/>
            <a:ext cx="6858000" cy="2926080"/>
          </a:xfrm>
          <a:prstGeom prst="rect">
            <a:avLst/>
          </a:prstGeom>
        </p:spPr>
        <p:txBody>
          <a:bodyPr anchor="t" rtlCol="false" tIns="0" lIns="0" bIns="0" rIns="0">
            <a:spAutoFit/>
          </a:bodyPr>
          <a:lstStyle/>
          <a:p>
            <a:pPr algn="l">
              <a:lnSpc>
                <a:spcPts val="3499"/>
              </a:lnSpc>
              <a:spcBef>
                <a:spcPct val="0"/>
              </a:spcBef>
              <a:spcAft>
                <a:spcPts val="1000"/>
              </a:spcAft>
              <a:defRPr sz="1300">
                <a:solidFill>
                  <a:srgbClr val="2D3748"/>
                </a:solidFill>
              </a:defRPr>
            </a:pPr>
            <a:r>
              <a:t>•  AI Investment correlates moderately with Productivity Gain, indicating budget alone is not the sole factor.</a:t>
            </a:r>
          </a:p>
          <a:p>
            <a:pPr>
              <a:spcAft>
                <a:spcPts val="1000"/>
              </a:spcAft>
              <a:defRPr sz="1300">
                <a:solidFill>
                  <a:srgbClr val="2D3748"/>
                </a:solidFill>
              </a:defRPr>
            </a:pPr>
            <a:r>
              <a:t>•  Employee Training is a massive builder of capability, correlating extremely strongly (r = 0.845) with AI Maturity.</a:t>
            </a:r>
          </a:p>
        </p:txBody>
      </p:sp>
      <p:pic>
        <p:nvPicPr>
          <p:cNvPr id="9" name="Picture 8" descr="plot_reg_relationships.png"/>
          <p:cNvPicPr>
            <a:picLocks noChangeAspect="1"/>
          </p:cNvPicPr>
          <p:nvPr/>
        </p:nvPicPr>
        <p:blipFill>
          <a:blip r:embed="rId2"/>
          <a:stretch>
            <a:fillRect/>
          </a:stretch>
        </p:blipFill>
        <p:spPr>
          <a:xfrm>
            <a:off x="1179576" y="3931920"/>
            <a:ext cx="6858000" cy="2011680"/>
          </a:xfrm>
          <a:prstGeom prst="rect">
            <a:avLst/>
          </a:prstGeom>
        </p:spPr>
      </p:pic>
      <p:sp>
        <p:nvSpPr>
          <p:cNvPr id="10" name="Rounded Rectangle 9"/>
          <p:cNvSpPr/>
          <p:nvPr/>
        </p:nvSpPr>
        <p:spPr>
          <a:xfrm>
            <a:off x="8723376" y="3291840"/>
            <a:ext cx="8961120" cy="5486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972800" y="4206240"/>
            <a:ext cx="4389120" cy="2011680"/>
          </a:xfrm>
          <a:prstGeom prst="roundRect">
            <a:avLst/>
          </a:prstGeom>
          <a:solidFill>
            <a:srgbClr val="009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064240" y="4389120"/>
            <a:ext cx="4206240" cy="1645920"/>
          </a:xfrm>
          <a:prstGeom prst="rect">
            <a:avLst/>
          </a:prstGeom>
          <a:noFill/>
        </p:spPr>
        <p:txBody>
          <a:bodyPr wrap="square">
            <a:spAutoFit/>
          </a:bodyPr>
          <a:lstStyle/>
          <a:p>
            <a:pPr algn="ctr">
              <a:defRPr sz="5400" b="1">
                <a:solidFill>
                  <a:srgbClr val="FFFFFF"/>
                </a:solidFill>
              </a:defRPr>
            </a:pPr>
            <a:r>
              <a:t>0.845</a:t>
            </a:r>
          </a:p>
          <a:p>
            <a:pPr algn="ctr">
              <a:defRPr sz="1400" b="1">
                <a:solidFill>
                  <a:srgbClr val="FFFFFF"/>
                </a:solidFill>
              </a:defRPr>
            </a:pPr>
            <a:r>
              <a:t>Correlation: Training vs AI Maturity</a:t>
            </a:r>
          </a:p>
        </p:txBody>
      </p:sp>
      <p:sp>
        <p:nvSpPr>
          <p:cNvPr id="13" name="TextBox 12"/>
          <p:cNvSpPr txBox="1"/>
          <p:nvPr/>
        </p:nvSpPr>
        <p:spPr>
          <a:xfrm>
            <a:off x="9144000" y="6766560"/>
            <a:ext cx="8046720" cy="1645920"/>
          </a:xfrm>
          <a:prstGeom prst="rect">
            <a:avLst/>
          </a:prstGeom>
          <a:noFill/>
        </p:spPr>
        <p:txBody>
          <a:bodyPr wrap="square">
            <a:spAutoFit/>
          </a:bodyPr>
          <a:lstStyle/>
          <a:p>
            <a:pPr>
              <a:spcAft>
                <a:spcPts val="800"/>
              </a:spcAft>
              <a:defRPr sz="1600" b="1">
                <a:solidFill>
                  <a:srgbClr val="0F2240"/>
                </a:solidFill>
              </a:defRPr>
            </a:pPr>
            <a:r>
              <a:t>Highlight Insight:</a:t>
            </a:r>
          </a:p>
          <a:p>
            <a:pPr>
              <a:defRPr sz="1300">
                <a:solidFill>
                  <a:srgbClr val="2D3748"/>
                </a:solidFill>
              </a:defRPr>
            </a:pPr>
            <a:r>
              <a:t>Workforce capability is the single most influential driver of AI adoption maturity. Companies must prioritize employee training hours to convert AI technology acquisitions into mature, high-performing corporate assets.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TextBox 2" id="2"/>
          <p:cNvSpPr txBox="true"/>
          <p:nvPr/>
        </p:nvSpPr>
        <p:spPr>
          <a:xfrm rot="0">
            <a:off x="1028700" y="847725"/>
            <a:ext cx="9507693" cy="1698692"/>
          </a:xfrm>
          <a:prstGeom prst="rect">
            <a:avLst/>
          </a:prstGeom>
        </p:spPr>
        <p:txBody>
          <a:bodyPr anchor="t" rtlCol="false" tIns="0" lIns="0" bIns="0" rIns="0">
            <a:spAutoFit/>
          </a:bodyPr>
          <a:lstStyle/>
          <a:p>
            <a:pPr>
              <a:defRPr b="1">
                <a:solidFill>
                  <a:srgbClr val="2563EB"/>
                </a:solidFill>
                <a:latin typeface="Arial"/>
              </a:defRPr>
            </a:pPr>
            <a:r>
              <a:t>CORRELATION</a:t>
            </a:r>
          </a:p>
        </p:txBody>
      </p:sp>
      <p:sp>
        <p:nvSpPr>
          <p:cNvPr name="TextBox 3" id="3"/>
          <p:cNvSpPr txBox="true"/>
          <p:nvPr/>
        </p:nvSpPr>
        <p:spPr>
          <a:xfrm rot="0">
            <a:off x="1028700" y="2365442"/>
            <a:ext cx="10345630" cy="1698692"/>
          </a:xfrm>
          <a:prstGeom prst="rect">
            <a:avLst/>
          </a:prstGeom>
        </p:spPr>
        <p:txBody>
          <a:bodyPr anchor="t" rtlCol="false" tIns="0" lIns="0" bIns="0" rIns="0">
            <a:spAutoFit/>
          </a:bodyPr>
          <a:lstStyle/>
          <a:p>
            <a:pPr>
              <a:defRPr b="1">
                <a:solidFill>
                  <a:srgbClr val="2563EB"/>
                </a:solidFill>
                <a:latin typeface="Arial"/>
              </a:defRPr>
            </a:pPr>
            <a:r>
              <a:t>HEATMAP</a:t>
            </a:r>
          </a:p>
        </p:txBody>
      </p:sp>
      <p:sp>
        <p:nvSpPr>
          <p:cNvPr name="Freeform 4" id="4"/>
          <p:cNvSpPr/>
          <p:nvPr/>
        </p:nvSpPr>
        <p:spPr>
          <a:xfrm flipH="false" flipV="false" rot="0">
            <a:off x="9681147" y="1229361"/>
            <a:ext cx="1116395" cy="1116395"/>
          </a:xfrm>
          <a:custGeom>
            <a:avLst/>
            <a:gdLst/>
            <a:ahLst/>
            <a:cxnLst/>
            <a:rect r="r" b="b" t="t" l="l"/>
            <a:pathLst>
              <a:path h="1116395" w="1116395">
                <a:moveTo>
                  <a:pt x="0" y="0"/>
                </a:moveTo>
                <a:lnTo>
                  <a:pt x="1116395" y="0"/>
                </a:lnTo>
                <a:lnTo>
                  <a:pt x="1116395" y="1116395"/>
                </a:lnTo>
                <a:lnTo>
                  <a:pt x="0" y="11163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sp>
        <p:nvSpPr>
          <p:cNvPr name="TextBox 5" id="5"/>
          <p:cNvSpPr txBox="true"/>
          <p:nvPr/>
        </p:nvSpPr>
        <p:spPr>
          <a:xfrm rot="0">
            <a:off x="1028700" y="6859521"/>
            <a:ext cx="6531756" cy="514416"/>
          </a:xfrm>
          <a:prstGeom prst="rect">
            <a:avLst/>
          </a:prstGeom>
        </p:spPr>
        <p:txBody>
          <a:bodyPr anchor="t" rtlCol="false" tIns="0" lIns="0" bIns="0" rIns="0">
            <a:spAutoFit/>
          </a:bodyPr>
          <a:lstStyle/>
          <a:p>
            <a:pPr>
              <a:defRPr b="1" sz="1800">
                <a:solidFill>
                  <a:srgbClr val="0F2240"/>
                </a:solidFill>
                <a:latin typeface="Arial"/>
              </a:defRPr>
            </a:pPr>
            <a:r>
              <a:t>Observation</a:t>
            </a:r>
          </a:p>
        </p:txBody>
      </p:sp>
      <p:sp>
        <p:nvSpPr>
          <p:cNvPr name="TextBox 6" id="6"/>
          <p:cNvSpPr txBox="true"/>
          <p:nvPr/>
        </p:nvSpPr>
        <p:spPr>
          <a:xfrm rot="0">
            <a:off x="1056227" y="7969051"/>
            <a:ext cx="8624920" cy="1289249"/>
          </a:xfrm>
          <a:prstGeom prst="rect">
            <a:avLst/>
          </a:prstGeom>
        </p:spPr>
        <p:txBody>
          <a:bodyPr anchor="t" rtlCol="false" tIns="0" lIns="0" bIns="0" rIns="0">
            <a:spAutoFit/>
          </a:bodyPr>
          <a:lstStyle/>
          <a:p>
            <a:pPr algn="l">
              <a:lnSpc>
                <a:spcPts val="3499"/>
              </a:lnSpc>
              <a:spcBef>
                <a:spcPct val="0"/>
              </a:spcBef>
              <a:spcAft>
                <a:spcPts val="1000"/>
              </a:spcAft>
              <a:defRPr sz="1300"/>
            </a:pPr>
            <a:r>
              <a:t>•  </a:t>
            </a:r>
            <a:r>
              <a:rPr b="1">
                <a:solidFill>
                  <a:srgbClr val="0F2240"/>
                </a:solidFill>
              </a:rPr>
              <a:t>Automation ↔ Productivity = </a:t>
            </a:r>
            <a:r>
              <a:rPr b="1">
                <a:solidFill>
                  <a:srgbClr val="0096A6"/>
                </a:solidFill>
              </a:rPr>
              <a:t>0.95</a:t>
            </a:r>
          </a:p>
          <a:p>
            <a:pPr>
              <a:spcAft>
                <a:spcPts val="1000"/>
              </a:spcAft>
              <a:defRPr sz="1300"/>
            </a:pPr>
            <a:r>
              <a:t>•  </a:t>
            </a:r>
            <a:r>
              <a:rPr b="1">
                <a:solidFill>
                  <a:srgbClr val="0F2240"/>
                </a:solidFill>
              </a:rPr>
              <a:t>AI Maturity ↔ Deployment = </a:t>
            </a:r>
            <a:r>
              <a:rPr b="1">
                <a:solidFill>
                  <a:srgbClr val="0096A6"/>
                </a:solidFill>
              </a:rPr>
              <a:t>0.94</a:t>
            </a:r>
          </a:p>
          <a:p>
            <a:pPr>
              <a:spcAft>
                <a:spcPts val="1000"/>
              </a:spcAft>
              <a:defRPr sz="1300"/>
            </a:pPr>
            <a:r>
              <a:t>•  </a:t>
            </a:r>
            <a:r>
              <a:rPr b="1">
                <a:solidFill>
                  <a:srgbClr val="0F2240"/>
                </a:solidFill>
              </a:rPr>
              <a:t>AI Adoption ↔ Productivity = </a:t>
            </a:r>
            <a:r>
              <a:rPr b="1">
                <a:solidFill>
                  <a:srgbClr val="0096A6"/>
                </a:solidFill>
              </a:rPr>
              <a:t>0.93</a:t>
            </a:r>
          </a:p>
          <a:p>
            <a:pPr>
              <a:spcAft>
                <a:spcPts val="1000"/>
              </a:spcAft>
              <a:defRPr sz="1300"/>
            </a:pPr>
            <a:r>
              <a:t>•  </a:t>
            </a:r>
            <a:r>
              <a:rPr b="1">
                <a:solidFill>
                  <a:srgbClr val="0F2240"/>
                </a:solidFill>
              </a:rPr>
              <a:t>Training ↔ AI Maturity = </a:t>
            </a:r>
            <a:r>
              <a:rPr b="1">
                <a:solidFill>
                  <a:srgbClr val="0096A6"/>
                </a:solidFill>
              </a:rPr>
              <a:t>0.85</a:t>
            </a:r>
          </a:p>
        </p:txBody>
      </p:sp>
      <p:pic>
        <p:nvPicPr>
          <p:cNvPr id="7" name="Picture 6" descr="plot_heatmap.png"/>
          <p:cNvPicPr>
            <a:picLocks noChangeAspect="1"/>
          </p:cNvPicPr>
          <p:nvPr/>
        </p:nvPicPr>
        <p:blipFill>
          <a:blip r:embed="rId2"/>
          <a:stretch>
            <a:fillRect/>
          </a:stretch>
        </p:blipFill>
        <p:spPr>
          <a:xfrm>
            <a:off x="8727344" y="3288502"/>
            <a:ext cx="9307589" cy="7116391"/>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TextBox 2" id="2"/>
          <p:cNvSpPr txBox="true"/>
          <p:nvPr/>
        </p:nvSpPr>
        <p:spPr>
          <a:xfrm rot="0">
            <a:off x="1028700" y="847725"/>
            <a:ext cx="9507693" cy="1698692"/>
          </a:xfrm>
          <a:prstGeom prst="rect">
            <a:avLst/>
          </a:prstGeom>
        </p:spPr>
        <p:txBody>
          <a:bodyPr anchor="t" rtlCol="false" tIns="0" lIns="0" bIns="0" rIns="0">
            <a:spAutoFit/>
          </a:bodyPr>
          <a:lstStyle/>
          <a:p>
            <a:pPr>
              <a:defRPr b="1">
                <a:solidFill>
                  <a:srgbClr val="2563EB"/>
                </a:solidFill>
                <a:latin typeface="Arial"/>
              </a:defRPr>
            </a:pPr>
            <a:r>
              <a:t>PAIR PLOT</a:t>
            </a:r>
          </a:p>
        </p:txBody>
      </p:sp>
      <p:sp>
        <p:nvSpPr>
          <p:cNvPr name="TextBox 3" id="3"/>
          <p:cNvSpPr txBox="true"/>
          <p:nvPr/>
        </p:nvSpPr>
        <p:spPr>
          <a:xfrm rot="0">
            <a:off x="1028700" y="2365442"/>
            <a:ext cx="10345630" cy="1698692"/>
          </a:xfrm>
          <a:prstGeom prst="rect">
            <a:avLst/>
          </a:prstGeom>
        </p:spPr>
        <p:txBody>
          <a:bodyPr anchor="t" rtlCol="false" tIns="0" lIns="0" bIns="0" rIns="0">
            <a:spAutoFit/>
          </a:bodyPr>
          <a:lstStyle/>
          <a:p>
            <a:pPr>
              <a:defRPr b="1">
                <a:solidFill>
                  <a:srgbClr val="2563EB"/>
                </a:solidFill>
                <a:latin typeface="Arial"/>
              </a:defRPr>
            </a:pPr>
            <a:r>
              <a:t>VISUALIZATION</a:t>
            </a:r>
          </a:p>
        </p:txBody>
      </p:sp>
      <p:sp>
        <p:nvSpPr>
          <p:cNvPr name="Freeform 4" id="4"/>
          <p:cNvSpPr/>
          <p:nvPr/>
        </p:nvSpPr>
        <p:spPr>
          <a:xfrm flipH="false" flipV="false" rot="0">
            <a:off x="9681147" y="1229361"/>
            <a:ext cx="1116395" cy="1116395"/>
          </a:xfrm>
          <a:custGeom>
            <a:avLst/>
            <a:gdLst/>
            <a:ahLst/>
            <a:cxnLst/>
            <a:rect r="r" b="b" t="t" l="l"/>
            <a:pathLst>
              <a:path h="1116395" w="1116395">
                <a:moveTo>
                  <a:pt x="0" y="0"/>
                </a:moveTo>
                <a:lnTo>
                  <a:pt x="1116395" y="0"/>
                </a:lnTo>
                <a:lnTo>
                  <a:pt x="1116395" y="1116395"/>
                </a:lnTo>
                <a:lnTo>
                  <a:pt x="0" y="11163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sp>
        <p:nvSpPr>
          <p:cNvPr name="TextBox 5" id="5"/>
          <p:cNvSpPr txBox="true"/>
          <p:nvPr/>
        </p:nvSpPr>
        <p:spPr>
          <a:xfrm rot="0">
            <a:off x="1028700" y="6859521"/>
            <a:ext cx="6531756" cy="514416"/>
          </a:xfrm>
          <a:prstGeom prst="rect">
            <a:avLst/>
          </a:prstGeom>
        </p:spPr>
        <p:txBody>
          <a:bodyPr anchor="t" rtlCol="false" tIns="0" lIns="0" bIns="0" rIns="0">
            <a:spAutoFit/>
          </a:bodyPr>
          <a:lstStyle/>
          <a:p>
            <a:pPr>
              <a:defRPr b="1" sz="1800">
                <a:solidFill>
                  <a:srgbClr val="0F2240"/>
                </a:solidFill>
                <a:latin typeface="Arial"/>
              </a:defRPr>
            </a:pPr>
            <a:r>
              <a:t>Observation</a:t>
            </a:r>
          </a:p>
        </p:txBody>
      </p:sp>
      <p:sp>
        <p:nvSpPr>
          <p:cNvPr name="TextBox 6" id="6"/>
          <p:cNvSpPr txBox="true"/>
          <p:nvPr/>
        </p:nvSpPr>
        <p:spPr>
          <a:xfrm rot="0">
            <a:off x="1056227" y="7969051"/>
            <a:ext cx="8624920" cy="1289249"/>
          </a:xfrm>
          <a:prstGeom prst="rect">
            <a:avLst/>
          </a:prstGeom>
        </p:spPr>
        <p:txBody>
          <a:bodyPr anchor="t" rtlCol="false" tIns="0" lIns="0" bIns="0" rIns="0">
            <a:spAutoFit/>
          </a:bodyPr>
          <a:lstStyle/>
          <a:p>
            <a:pPr algn="l">
              <a:lnSpc>
                <a:spcPts val="3499"/>
              </a:lnSpc>
              <a:spcBef>
                <a:spcPct val="0"/>
              </a:spcBef>
              <a:spcAft>
                <a:spcPts val="1200"/>
              </a:spcAft>
              <a:defRPr sz="1300">
                <a:solidFill>
                  <a:srgbClr val="2D3748"/>
                </a:solidFill>
              </a:defRPr>
            </a:pPr>
            <a:r>
              <a:t>•  Strong positive relationships among major variables.</a:t>
            </a:r>
          </a:p>
          <a:p>
            <a:pPr>
              <a:spcAft>
                <a:spcPts val="1200"/>
              </a:spcAft>
              <a:defRPr sz="1300">
                <a:solidFill>
                  <a:srgbClr val="2D3748"/>
                </a:solidFill>
              </a:defRPr>
            </a:pPr>
            <a:r>
              <a:t>•  AI Investment shows greater variability.</a:t>
            </a:r>
          </a:p>
          <a:p>
            <a:pPr>
              <a:spcAft>
                <a:spcPts val="1200"/>
              </a:spcAft>
              <a:defRPr sz="1300">
                <a:solidFill>
                  <a:srgbClr val="2D3748"/>
                </a:solidFill>
              </a:defRPr>
            </a:pPr>
            <a:r>
              <a:t>•  Employee Training closely aligns with AI Maturity.</a:t>
            </a:r>
          </a:p>
        </p:txBody>
      </p:sp>
      <p:pic>
        <p:nvPicPr>
          <p:cNvPr id="7" name="Picture 6" descr="plot_pairplot.png"/>
          <p:cNvPicPr>
            <a:picLocks noChangeAspect="1"/>
          </p:cNvPicPr>
          <p:nvPr/>
        </p:nvPicPr>
        <p:blipFill>
          <a:blip r:embed="rId2"/>
          <a:stretch>
            <a:fillRect/>
          </a:stretch>
        </p:blipFill>
        <p:spPr>
          <a:xfrm>
            <a:off x="8727344" y="3288502"/>
            <a:ext cx="9307589" cy="7116391"/>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11781030" y="1229361"/>
            <a:ext cx="1116395" cy="1116395"/>
          </a:xfrm>
          <a:custGeom>
            <a:avLst/>
            <a:gdLst/>
            <a:ahLst/>
            <a:cxnLst/>
            <a:rect r="r" b="b" t="t" l="l"/>
            <a:pathLst>
              <a:path h="1116395" w="1116395">
                <a:moveTo>
                  <a:pt x="0" y="0"/>
                </a:moveTo>
                <a:lnTo>
                  <a:pt x="1116396" y="0"/>
                </a:lnTo>
                <a:lnTo>
                  <a:pt x="1116396" y="1116395"/>
                </a:lnTo>
                <a:lnTo>
                  <a:pt x="0" y="11163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sp>
        <p:nvSpPr>
          <p:cNvPr name="TextBox 3" id="3"/>
          <p:cNvSpPr txBox="true"/>
          <p:nvPr/>
        </p:nvSpPr>
        <p:spPr>
          <a:xfrm rot="0">
            <a:off x="1028700" y="847725"/>
            <a:ext cx="11107392" cy="1698692"/>
          </a:xfrm>
          <a:prstGeom prst="rect">
            <a:avLst/>
          </a:prstGeom>
        </p:spPr>
        <p:txBody>
          <a:bodyPr anchor="t" rtlCol="false" tIns="0" lIns="0" bIns="0" rIns="0">
            <a:spAutoFit/>
          </a:bodyPr>
          <a:lstStyle/>
          <a:p>
            <a:pPr>
              <a:defRPr b="1">
                <a:solidFill>
                  <a:srgbClr val="2563EB"/>
                </a:solidFill>
                <a:latin typeface="Arial"/>
              </a:defRPr>
            </a:pPr>
            <a:r>
              <a:t>KEY</a:t>
            </a:r>
          </a:p>
        </p:txBody>
      </p:sp>
      <p:sp>
        <p:nvSpPr>
          <p:cNvPr name="TextBox 4" id="4"/>
          <p:cNvSpPr txBox="true"/>
          <p:nvPr/>
        </p:nvSpPr>
        <p:spPr>
          <a:xfrm rot="0">
            <a:off x="1028700" y="2365442"/>
            <a:ext cx="10345630" cy="1698692"/>
          </a:xfrm>
          <a:prstGeom prst="rect">
            <a:avLst/>
          </a:prstGeom>
        </p:spPr>
        <p:txBody>
          <a:bodyPr anchor="t" rtlCol="false" tIns="0" lIns="0" bIns="0" rIns="0">
            <a:spAutoFit/>
          </a:bodyPr>
          <a:lstStyle/>
          <a:p>
            <a:pPr>
              <a:defRPr b="1">
                <a:solidFill>
                  <a:srgbClr val="2563EB"/>
                </a:solidFill>
                <a:latin typeface="Arial"/>
              </a:defRPr>
            </a:pPr>
            <a:r>
              <a:t>INSIGHTS</a:t>
            </a:r>
          </a:p>
        </p:txBody>
      </p:sp>
      <p:sp>
        <p:nvSpPr>
          <p:cNvPr name="Freeform 37" id="37"/>
          <p:cNvSpPr/>
          <p:nvPr/>
        </p:nvSpPr>
        <p:spPr>
          <a:xfrm flipH="false" flipV="false" rot="0">
            <a:off x="15436006" y="2918353"/>
            <a:ext cx="3162354" cy="2225147"/>
          </a:xfrm>
          <a:custGeom>
            <a:avLst/>
            <a:gdLst/>
            <a:ahLst/>
            <a:cxnLst/>
            <a:rect r="r" b="b" t="t" l="l"/>
            <a:pathLst>
              <a:path h="2225147" w="3162354">
                <a:moveTo>
                  <a:pt x="0" y="0"/>
                </a:moveTo>
                <a:lnTo>
                  <a:pt x="3162353" y="0"/>
                </a:lnTo>
                <a:lnTo>
                  <a:pt x="3162353" y="2225147"/>
                </a:lnTo>
                <a:lnTo>
                  <a:pt x="0" y="22251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txBody>
          <a:bodyPr/>
          <a:p/>
        </p:txBody>
      </p:sp>
      <p:sp>
        <p:nvSpPr>
          <p:cNvPr id="38" name="Rounded Rectangle 37"/>
          <p:cNvSpPr/>
          <p:nvPr/>
        </p:nvSpPr>
        <p:spPr>
          <a:xfrm>
            <a:off x="1024128" y="3291840"/>
            <a:ext cx="7772400" cy="5486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80160" y="3566160"/>
            <a:ext cx="7223760" cy="4937760"/>
          </a:xfrm>
          <a:prstGeom prst="rect">
            <a:avLst/>
          </a:prstGeom>
          <a:noFill/>
        </p:spPr>
        <p:txBody>
          <a:bodyPr wrap="square">
            <a:spAutoFit/>
          </a:bodyPr>
          <a:lstStyle/>
          <a:p>
            <a:pPr>
              <a:spcAft>
                <a:spcPts val="2800"/>
              </a:spcAft>
              <a:defRPr sz="2200"/>
            </a:pPr>
            <a:r>
              <a:t>📈  </a:t>
            </a:r>
            <a:r>
              <a:rPr sz="1500">
                <a:solidFill>
                  <a:srgbClr val="2D3748"/>
                </a:solidFill>
              </a:rPr>
              <a:t>AI adoption increased consistently over time.</a:t>
            </a:r>
          </a:p>
          <a:p>
            <a:pPr>
              <a:spcAft>
                <a:spcPts val="2800"/>
              </a:spcAft>
              <a:defRPr sz="2200"/>
            </a:pPr>
            <a:r>
              <a:t>💰  </a:t>
            </a:r>
            <a:r>
              <a:rPr sz="1500">
                <a:solidFill>
                  <a:srgbClr val="2D3748"/>
                </a:solidFill>
              </a:rPr>
              <a:t>Financial Services invests the most average budget.</a:t>
            </a:r>
          </a:p>
          <a:p>
            <a:pPr>
              <a:spcAft>
                <a:spcPts val="2800"/>
              </a:spcAft>
              <a:defRPr sz="2200"/>
            </a:pPr>
            <a:r>
              <a:t>🏭  </a:t>
            </a:r>
            <a:r>
              <a:rPr sz="1500">
                <a:solidFill>
                  <a:srgbClr val="2D3748"/>
                </a:solidFill>
              </a:rPr>
              <a:t>Manufacturing has the highest productivity gains.</a:t>
            </a:r>
          </a:p>
        </p:txBody>
      </p:sp>
      <p:sp>
        <p:nvSpPr>
          <p:cNvPr id="40" name="Rounded Rectangle 39"/>
          <p:cNvSpPr/>
          <p:nvPr/>
        </p:nvSpPr>
        <p:spPr>
          <a:xfrm>
            <a:off x="9491472" y="3291840"/>
            <a:ext cx="7772400" cy="5486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692640" y="3566160"/>
            <a:ext cx="7223760" cy="4937760"/>
          </a:xfrm>
          <a:prstGeom prst="rect">
            <a:avLst/>
          </a:prstGeom>
          <a:noFill/>
        </p:spPr>
        <p:txBody>
          <a:bodyPr wrap="square">
            <a:spAutoFit/>
          </a:bodyPr>
          <a:lstStyle/>
          <a:p>
            <a:pPr>
              <a:spcAft>
                <a:spcPts val="2800"/>
              </a:spcAft>
              <a:defRPr sz="2200"/>
            </a:pPr>
            <a:r>
              <a:t>🧑‍🏫  </a:t>
            </a:r>
            <a:r>
              <a:rPr sz="1500">
                <a:solidFill>
                  <a:srgbClr val="2D3748"/>
                </a:solidFill>
              </a:rPr>
              <a:t>Employee training strongly improves AI maturity.</a:t>
            </a:r>
          </a:p>
          <a:p>
            <a:pPr>
              <a:spcAft>
                <a:spcPts val="2800"/>
              </a:spcAft>
              <a:defRPr sz="2200"/>
            </a:pPr>
            <a:r>
              <a:t>🤖  </a:t>
            </a:r>
            <a:r>
              <a:rPr sz="1500">
                <a:solidFill>
                  <a:srgbClr val="2D3748"/>
                </a:solidFill>
              </a:rPr>
              <a:t>Automation rate improves productivity.</a:t>
            </a:r>
          </a:p>
          <a:p>
            <a:pPr>
              <a:spcAft>
                <a:spcPts val="2800"/>
              </a:spcAft>
              <a:defRPr sz="2200"/>
            </a:pPr>
            <a:r>
              <a:t>💵  </a:t>
            </a:r>
            <a:r>
              <a:rPr sz="1500">
                <a:solidFill>
                  <a:srgbClr val="2D3748"/>
                </a:solidFill>
              </a:rPr>
              <a:t>Technology generates the highest average revenue.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136724" y="4910565"/>
            <a:ext cx="3646588" cy="1927895"/>
            <a:chOff x="0" y="0"/>
            <a:chExt cx="960418" cy="507758"/>
          </a:xfrm>
        </p:grpSpPr>
        <p:sp>
          <p:nvSpPr>
            <p:cNvPr name="Freeform 3" id="3"/>
            <p:cNvSpPr/>
            <p:nvPr/>
          </p:nvSpPr>
          <p:spPr>
            <a:xfrm flipH="false" flipV="false" rot="0">
              <a:off x="0" y="0"/>
              <a:ext cx="960418" cy="507758"/>
            </a:xfrm>
            <a:custGeom>
              <a:avLst/>
              <a:gdLst/>
              <a:ahLst/>
              <a:cxnLst/>
              <a:rect r="r" b="b" t="t" l="l"/>
              <a:pathLst>
                <a:path h="507758" w="960418">
                  <a:moveTo>
                    <a:pt x="108276" y="0"/>
                  </a:moveTo>
                  <a:lnTo>
                    <a:pt x="852142" y="0"/>
                  </a:lnTo>
                  <a:cubicBezTo>
                    <a:pt x="911941" y="0"/>
                    <a:pt x="960418" y="48477"/>
                    <a:pt x="960418" y="108276"/>
                  </a:cubicBezTo>
                  <a:lnTo>
                    <a:pt x="960418" y="399482"/>
                  </a:lnTo>
                  <a:cubicBezTo>
                    <a:pt x="960418" y="459282"/>
                    <a:pt x="911941" y="507758"/>
                    <a:pt x="852142" y="507758"/>
                  </a:cubicBezTo>
                  <a:lnTo>
                    <a:pt x="108276" y="507758"/>
                  </a:lnTo>
                  <a:cubicBezTo>
                    <a:pt x="48477" y="507758"/>
                    <a:pt x="0" y="459282"/>
                    <a:pt x="0" y="399482"/>
                  </a:cubicBezTo>
                  <a:lnTo>
                    <a:pt x="0" y="108276"/>
                  </a:lnTo>
                  <a:cubicBezTo>
                    <a:pt x="0" y="48477"/>
                    <a:pt x="48477" y="0"/>
                    <a:pt x="108276" y="0"/>
                  </a:cubicBezTo>
                  <a:close/>
                </a:path>
              </a:pathLst>
            </a:custGeom>
            <a:solidFill>
              <a:srgbClr val="3B82F6"/>
            </a:solidFill>
          </p:spPr>
        </p:sp>
        <p:sp>
          <p:nvSpPr>
            <p:cNvPr name="TextBox 4" id="4"/>
            <p:cNvSpPr txBox="true"/>
            <p:nvPr/>
          </p:nvSpPr>
          <p:spPr>
            <a:xfrm>
              <a:off x="0" y="-38100"/>
              <a:ext cx="960418" cy="545858"/>
            </a:xfrm>
            <a:prstGeom prst="rect">
              <a:avLst/>
            </a:prstGeom>
          </p:spPr>
          <p:txBody>
            <a:bodyPr anchor="ctr" rtlCol="false" tIns="50800" lIns="50800" bIns="50800" rIns="50800"/>
            <a:lstStyle/>
            <a:p>
              <a:pPr algn="ctr">
                <a:lnSpc>
                  <a:spcPts val="3499"/>
                </a:lnSpc>
              </a:pPr>
            </a:p>
          </p:txBody>
        </p:sp>
      </p:grpSp>
      <p:grpSp>
        <p:nvGrpSpPr>
          <p:cNvPr name="Group 5" id="5"/>
          <p:cNvGrpSpPr/>
          <p:nvPr/>
        </p:nvGrpSpPr>
        <p:grpSpPr>
          <a:xfrm rot="0">
            <a:off x="5259562" y="6534612"/>
            <a:ext cx="3646588" cy="1927895"/>
            <a:chOff x="0" y="0"/>
            <a:chExt cx="960418" cy="507758"/>
          </a:xfrm>
        </p:grpSpPr>
        <p:sp>
          <p:nvSpPr>
            <p:cNvPr name="Freeform 6" id="6"/>
            <p:cNvSpPr/>
            <p:nvPr/>
          </p:nvSpPr>
          <p:spPr>
            <a:xfrm flipH="false" flipV="false" rot="0">
              <a:off x="0" y="0"/>
              <a:ext cx="960418" cy="507758"/>
            </a:xfrm>
            <a:custGeom>
              <a:avLst/>
              <a:gdLst/>
              <a:ahLst/>
              <a:cxnLst/>
              <a:rect r="r" b="b" t="t" l="l"/>
              <a:pathLst>
                <a:path h="507758" w="960418">
                  <a:moveTo>
                    <a:pt x="108276" y="0"/>
                  </a:moveTo>
                  <a:lnTo>
                    <a:pt x="852142" y="0"/>
                  </a:lnTo>
                  <a:cubicBezTo>
                    <a:pt x="911941" y="0"/>
                    <a:pt x="960418" y="48477"/>
                    <a:pt x="960418" y="108276"/>
                  </a:cubicBezTo>
                  <a:lnTo>
                    <a:pt x="960418" y="399482"/>
                  </a:lnTo>
                  <a:cubicBezTo>
                    <a:pt x="960418" y="459282"/>
                    <a:pt x="911941" y="507758"/>
                    <a:pt x="852142" y="507758"/>
                  </a:cubicBezTo>
                  <a:lnTo>
                    <a:pt x="108276" y="507758"/>
                  </a:lnTo>
                  <a:cubicBezTo>
                    <a:pt x="48477" y="507758"/>
                    <a:pt x="0" y="459282"/>
                    <a:pt x="0" y="399482"/>
                  </a:cubicBezTo>
                  <a:lnTo>
                    <a:pt x="0" y="108276"/>
                  </a:lnTo>
                  <a:cubicBezTo>
                    <a:pt x="0" y="48477"/>
                    <a:pt x="48477" y="0"/>
                    <a:pt x="108276" y="0"/>
                  </a:cubicBezTo>
                  <a:close/>
                </a:path>
              </a:pathLst>
            </a:custGeom>
            <a:solidFill>
              <a:srgbClr val="3B82F6"/>
            </a:solidFill>
          </p:spPr>
        </p:sp>
        <p:sp>
          <p:nvSpPr>
            <p:cNvPr name="TextBox 7" id="7"/>
            <p:cNvSpPr txBox="true"/>
            <p:nvPr/>
          </p:nvSpPr>
          <p:spPr>
            <a:xfrm>
              <a:off x="0" y="-38100"/>
              <a:ext cx="960418" cy="545858"/>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9382400" y="4757732"/>
            <a:ext cx="3646588" cy="1927895"/>
            <a:chOff x="0" y="0"/>
            <a:chExt cx="960418" cy="507758"/>
          </a:xfrm>
        </p:grpSpPr>
        <p:sp>
          <p:nvSpPr>
            <p:cNvPr name="Freeform 9" id="9"/>
            <p:cNvSpPr/>
            <p:nvPr/>
          </p:nvSpPr>
          <p:spPr>
            <a:xfrm flipH="false" flipV="false" rot="0">
              <a:off x="0" y="0"/>
              <a:ext cx="960418" cy="507758"/>
            </a:xfrm>
            <a:custGeom>
              <a:avLst/>
              <a:gdLst/>
              <a:ahLst/>
              <a:cxnLst/>
              <a:rect r="r" b="b" t="t" l="l"/>
              <a:pathLst>
                <a:path h="507758" w="960418">
                  <a:moveTo>
                    <a:pt x="108276" y="0"/>
                  </a:moveTo>
                  <a:lnTo>
                    <a:pt x="852142" y="0"/>
                  </a:lnTo>
                  <a:cubicBezTo>
                    <a:pt x="911941" y="0"/>
                    <a:pt x="960418" y="48477"/>
                    <a:pt x="960418" y="108276"/>
                  </a:cubicBezTo>
                  <a:lnTo>
                    <a:pt x="960418" y="399482"/>
                  </a:lnTo>
                  <a:cubicBezTo>
                    <a:pt x="960418" y="459282"/>
                    <a:pt x="911941" y="507758"/>
                    <a:pt x="852142" y="507758"/>
                  </a:cubicBezTo>
                  <a:lnTo>
                    <a:pt x="108276" y="507758"/>
                  </a:lnTo>
                  <a:cubicBezTo>
                    <a:pt x="48477" y="507758"/>
                    <a:pt x="0" y="459282"/>
                    <a:pt x="0" y="399482"/>
                  </a:cubicBezTo>
                  <a:lnTo>
                    <a:pt x="0" y="108276"/>
                  </a:lnTo>
                  <a:cubicBezTo>
                    <a:pt x="0" y="48477"/>
                    <a:pt x="48477" y="0"/>
                    <a:pt x="108276" y="0"/>
                  </a:cubicBezTo>
                  <a:close/>
                </a:path>
              </a:pathLst>
            </a:custGeom>
            <a:solidFill>
              <a:srgbClr val="3B82F6"/>
            </a:solidFill>
          </p:spPr>
        </p:sp>
        <p:sp>
          <p:nvSpPr>
            <p:cNvPr name="TextBox 10" id="10"/>
            <p:cNvSpPr txBox="true"/>
            <p:nvPr/>
          </p:nvSpPr>
          <p:spPr>
            <a:xfrm>
              <a:off x="0" y="-38100"/>
              <a:ext cx="960418" cy="545858"/>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13504688" y="6274614"/>
            <a:ext cx="3646588" cy="1927895"/>
            <a:chOff x="0" y="0"/>
            <a:chExt cx="960418" cy="507758"/>
          </a:xfrm>
        </p:grpSpPr>
        <p:sp>
          <p:nvSpPr>
            <p:cNvPr name="Freeform 12" id="12"/>
            <p:cNvSpPr/>
            <p:nvPr/>
          </p:nvSpPr>
          <p:spPr>
            <a:xfrm flipH="false" flipV="false" rot="0">
              <a:off x="0" y="0"/>
              <a:ext cx="960418" cy="507758"/>
            </a:xfrm>
            <a:custGeom>
              <a:avLst/>
              <a:gdLst/>
              <a:ahLst/>
              <a:cxnLst/>
              <a:rect r="r" b="b" t="t" l="l"/>
              <a:pathLst>
                <a:path h="507758" w="960418">
                  <a:moveTo>
                    <a:pt x="108276" y="0"/>
                  </a:moveTo>
                  <a:lnTo>
                    <a:pt x="852142" y="0"/>
                  </a:lnTo>
                  <a:cubicBezTo>
                    <a:pt x="911941" y="0"/>
                    <a:pt x="960418" y="48477"/>
                    <a:pt x="960418" y="108276"/>
                  </a:cubicBezTo>
                  <a:lnTo>
                    <a:pt x="960418" y="399482"/>
                  </a:lnTo>
                  <a:cubicBezTo>
                    <a:pt x="960418" y="459282"/>
                    <a:pt x="911941" y="507758"/>
                    <a:pt x="852142" y="507758"/>
                  </a:cubicBezTo>
                  <a:lnTo>
                    <a:pt x="108276" y="507758"/>
                  </a:lnTo>
                  <a:cubicBezTo>
                    <a:pt x="48477" y="507758"/>
                    <a:pt x="0" y="459282"/>
                    <a:pt x="0" y="399482"/>
                  </a:cubicBezTo>
                  <a:lnTo>
                    <a:pt x="0" y="108276"/>
                  </a:lnTo>
                  <a:cubicBezTo>
                    <a:pt x="0" y="48477"/>
                    <a:pt x="48477" y="0"/>
                    <a:pt x="108276" y="0"/>
                  </a:cubicBezTo>
                  <a:close/>
                </a:path>
              </a:pathLst>
            </a:custGeom>
            <a:solidFill>
              <a:srgbClr val="3B82F6"/>
            </a:solidFill>
          </p:spPr>
        </p:sp>
        <p:sp>
          <p:nvSpPr>
            <p:cNvPr name="TextBox 13" id="13"/>
            <p:cNvSpPr txBox="true"/>
            <p:nvPr/>
          </p:nvSpPr>
          <p:spPr>
            <a:xfrm>
              <a:off x="0" y="-38100"/>
              <a:ext cx="960418" cy="545858"/>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2545739" y="3908179"/>
            <a:ext cx="794924" cy="79492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D4BF"/>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3499"/>
                </a:lnSpc>
              </a:pPr>
            </a:p>
          </p:txBody>
        </p:sp>
      </p:grpSp>
      <p:grpSp>
        <p:nvGrpSpPr>
          <p:cNvPr name="Group 17" id="17"/>
          <p:cNvGrpSpPr/>
          <p:nvPr/>
        </p:nvGrpSpPr>
        <p:grpSpPr>
          <a:xfrm rot="0">
            <a:off x="6685394" y="5461681"/>
            <a:ext cx="794924" cy="794924"/>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D4BF"/>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3499"/>
                </a:lnSpc>
              </a:pPr>
            </a:p>
          </p:txBody>
        </p:sp>
      </p:grpSp>
      <p:grpSp>
        <p:nvGrpSpPr>
          <p:cNvPr name="Group 20" id="20"/>
          <p:cNvGrpSpPr/>
          <p:nvPr/>
        </p:nvGrpSpPr>
        <p:grpSpPr>
          <a:xfrm rot="0">
            <a:off x="10808232" y="3812309"/>
            <a:ext cx="794924" cy="794924"/>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D4BF"/>
            </a:solidFill>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a:lnSpc>
                  <a:spcPts val="3499"/>
                </a:lnSpc>
              </a:pPr>
            </a:p>
          </p:txBody>
        </p:sp>
      </p:grpSp>
      <p:grpSp>
        <p:nvGrpSpPr>
          <p:cNvPr name="Group 23" id="23"/>
          <p:cNvGrpSpPr/>
          <p:nvPr/>
        </p:nvGrpSpPr>
        <p:grpSpPr>
          <a:xfrm rot="0">
            <a:off x="14930520" y="5160089"/>
            <a:ext cx="794924" cy="794924"/>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D4BF"/>
            </a:solidFill>
          </p:spPr>
        </p:sp>
        <p:sp>
          <p:nvSpPr>
            <p:cNvPr name="TextBox 25" id="25"/>
            <p:cNvSpPr txBox="true"/>
            <p:nvPr/>
          </p:nvSpPr>
          <p:spPr>
            <a:xfrm>
              <a:off x="76200" y="38100"/>
              <a:ext cx="660400" cy="698500"/>
            </a:xfrm>
            <a:prstGeom prst="rect">
              <a:avLst/>
            </a:prstGeom>
          </p:spPr>
          <p:txBody>
            <a:bodyPr anchor="ctr" rtlCol="false" tIns="50800" lIns="50800" bIns="50800" rIns="50800"/>
            <a:lstStyle/>
            <a:p>
              <a:pPr algn="ctr">
                <a:lnSpc>
                  <a:spcPts val="3499"/>
                </a:lnSpc>
              </a:pPr>
            </a:p>
          </p:txBody>
        </p:sp>
      </p:grpSp>
      <p:sp>
        <p:nvSpPr>
          <p:cNvPr name="Freeform 26" id="26"/>
          <p:cNvSpPr/>
          <p:nvPr/>
        </p:nvSpPr>
        <p:spPr>
          <a:xfrm flipH="false" flipV="false" rot="0">
            <a:off x="16350000" y="1403565"/>
            <a:ext cx="909300" cy="909300"/>
          </a:xfrm>
          <a:custGeom>
            <a:avLst/>
            <a:gdLst/>
            <a:ahLst/>
            <a:cxnLst/>
            <a:rect r="r" b="b" t="t" l="l"/>
            <a:pathLst>
              <a:path h="909300" w="909300">
                <a:moveTo>
                  <a:pt x="0" y="0"/>
                </a:moveTo>
                <a:lnTo>
                  <a:pt x="909300" y="0"/>
                </a:lnTo>
                <a:lnTo>
                  <a:pt x="909300" y="909300"/>
                </a:lnTo>
                <a:lnTo>
                  <a:pt x="0" y="909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sp>
        <p:nvSpPr>
          <p:cNvPr name="Freeform 27" id="27"/>
          <p:cNvSpPr/>
          <p:nvPr/>
        </p:nvSpPr>
        <p:spPr>
          <a:xfrm flipH="false" flipV="false" rot="0">
            <a:off x="1029243" y="8462507"/>
            <a:ext cx="3162354" cy="2225147"/>
          </a:xfrm>
          <a:custGeom>
            <a:avLst/>
            <a:gdLst/>
            <a:ahLst/>
            <a:cxnLst/>
            <a:rect r="r" b="b" t="t" l="l"/>
            <a:pathLst>
              <a:path h="2225147" w="3162354">
                <a:moveTo>
                  <a:pt x="0" y="0"/>
                </a:moveTo>
                <a:lnTo>
                  <a:pt x="3162354" y="0"/>
                </a:lnTo>
                <a:lnTo>
                  <a:pt x="3162354" y="2225147"/>
                </a:lnTo>
                <a:lnTo>
                  <a:pt x="0" y="22251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txBody>
          <a:bodyPr/>
          <a:p/>
        </p:txBody>
      </p:sp>
      <p:sp>
        <p:nvSpPr>
          <p:cNvPr name="TextBox 28" id="28"/>
          <p:cNvSpPr txBox="true"/>
          <p:nvPr/>
        </p:nvSpPr>
        <p:spPr>
          <a:xfrm rot="0">
            <a:off x="1938000" y="895350"/>
            <a:ext cx="6745244" cy="1193800"/>
          </a:xfrm>
          <a:prstGeom prst="rect">
            <a:avLst/>
          </a:prstGeom>
        </p:spPr>
        <p:txBody>
          <a:bodyPr anchor="t" rtlCol="false" tIns="0" lIns="0" bIns="0" rIns="0">
            <a:spAutoFit/>
          </a:bodyPr>
          <a:lstStyle/>
          <a:p>
            <a:pPr algn="l">
              <a:lnSpc>
                <a:spcPts val="9799"/>
              </a:lnSpc>
            </a:pPr>
            <a:r>
              <a:rPr lang="en-US" sz="6999" b="true">
                <a:solidFill>
                  <a:srgbClr val="1F4FD8"/>
                </a:solidFill>
                <a:latin typeface="Inter Bold"/>
                <a:ea typeface="Inter Bold"/>
                <a:cs typeface="Inter Bold"/>
                <a:sym typeface="Inter Bold"/>
              </a:rPr>
              <a:t>TOOLS USED IN</a:t>
            </a:r>
          </a:p>
        </p:txBody>
      </p:sp>
      <p:sp>
        <p:nvSpPr>
          <p:cNvPr name="TextBox 29" id="29"/>
          <p:cNvSpPr txBox="true"/>
          <p:nvPr/>
        </p:nvSpPr>
        <p:spPr>
          <a:xfrm rot="0">
            <a:off x="8994926" y="895350"/>
            <a:ext cx="7355074" cy="1193800"/>
          </a:xfrm>
          <a:prstGeom prst="rect">
            <a:avLst/>
          </a:prstGeom>
        </p:spPr>
        <p:txBody>
          <a:bodyPr anchor="t" rtlCol="false" tIns="0" lIns="0" bIns="0" rIns="0">
            <a:spAutoFit/>
          </a:bodyPr>
          <a:lstStyle/>
          <a:p>
            <a:pPr algn="l">
              <a:lnSpc>
                <a:spcPts val="9799"/>
              </a:lnSpc>
            </a:pPr>
            <a:r>
              <a:rPr lang="en-US" sz="6999" b="true">
                <a:solidFill>
                  <a:srgbClr val="3B82F6"/>
                </a:solidFill>
                <a:latin typeface="Inter Bold"/>
                <a:ea typeface="Inter Bold"/>
                <a:cs typeface="Inter Bold"/>
                <a:sym typeface="Inter Bold"/>
              </a:rPr>
              <a:t>DATA </a:t>
            </a:r>
            <a:r>
              <a:rPr lang="en-US" b="true" sz="6999">
                <a:solidFill>
                  <a:srgbClr val="3B82F6"/>
                </a:solidFill>
                <a:latin typeface="Inter Bold"/>
                <a:ea typeface="Inter Bold"/>
                <a:cs typeface="Inter Bold"/>
                <a:sym typeface="Inter Bold"/>
              </a:rPr>
              <a:t>ANALYSIS</a:t>
            </a:r>
          </a:p>
        </p:txBody>
      </p:sp>
      <p:sp>
        <p:nvSpPr>
          <p:cNvPr name="TextBox 30" id="30"/>
          <p:cNvSpPr txBox="true"/>
          <p:nvPr/>
        </p:nvSpPr>
        <p:spPr>
          <a:xfrm rot="0">
            <a:off x="1388944" y="5423581"/>
            <a:ext cx="3108515" cy="851032"/>
          </a:xfrm>
          <a:prstGeom prst="rect">
            <a:avLst/>
          </a:prstGeom>
        </p:spPr>
        <p:txBody>
          <a:bodyPr anchor="t" rtlCol="false" tIns="0" lIns="0" bIns="0" rIns="0">
            <a:spAutoFit/>
          </a:bodyPr>
          <a:lstStyle/>
          <a:p>
            <a:pPr algn="ctr">
              <a:lnSpc>
                <a:spcPts val="3499"/>
              </a:lnSpc>
              <a:spcBef>
                <a:spcPct val="0"/>
              </a:spcBef>
            </a:pPr>
            <a:r>
              <a:rPr lang="en-US" sz="2499">
                <a:solidFill>
                  <a:srgbClr val="F3F6FB"/>
                </a:solidFill>
                <a:latin typeface="Inter"/>
                <a:ea typeface="Inter"/>
                <a:cs typeface="Inter"/>
                <a:sym typeface="Inter"/>
              </a:rPr>
              <a:t>Spr</a:t>
            </a:r>
            <a:r>
              <a:rPr lang="en-US" sz="2499">
                <a:solidFill>
                  <a:srgbClr val="F3F6FB"/>
                </a:solidFill>
                <a:latin typeface="Inter"/>
                <a:ea typeface="Inter"/>
                <a:cs typeface="Inter"/>
                <a:sym typeface="Inter"/>
              </a:rPr>
              <a:t>eadsheets (Excel, Google Sheets)</a:t>
            </a:r>
          </a:p>
        </p:txBody>
      </p:sp>
      <p:sp>
        <p:nvSpPr>
          <p:cNvPr name="TextBox 31" id="31"/>
          <p:cNvSpPr txBox="true"/>
          <p:nvPr/>
        </p:nvSpPr>
        <p:spPr>
          <a:xfrm rot="0">
            <a:off x="5385672" y="7047629"/>
            <a:ext cx="3394368" cy="851032"/>
          </a:xfrm>
          <a:prstGeom prst="rect">
            <a:avLst/>
          </a:prstGeom>
        </p:spPr>
        <p:txBody>
          <a:bodyPr anchor="t" rtlCol="false" tIns="0" lIns="0" bIns="0" rIns="0">
            <a:spAutoFit/>
          </a:bodyPr>
          <a:lstStyle/>
          <a:p>
            <a:pPr algn="ctr">
              <a:lnSpc>
                <a:spcPts val="3499"/>
              </a:lnSpc>
              <a:spcBef>
                <a:spcPct val="0"/>
              </a:spcBef>
            </a:pPr>
            <a:r>
              <a:rPr lang="en-US" sz="2499">
                <a:solidFill>
                  <a:srgbClr val="F3F6FB"/>
                </a:solidFill>
                <a:latin typeface="Inter"/>
                <a:ea typeface="Inter"/>
                <a:cs typeface="Inter"/>
                <a:sym typeface="Inter"/>
              </a:rPr>
              <a:t>Programming L</a:t>
            </a:r>
            <a:r>
              <a:rPr lang="en-US" sz="2499">
                <a:solidFill>
                  <a:srgbClr val="F3F6FB"/>
                </a:solidFill>
                <a:latin typeface="Inter"/>
                <a:ea typeface="Inter"/>
                <a:cs typeface="Inter"/>
                <a:sym typeface="Inter"/>
              </a:rPr>
              <a:t>anguages (Python, R)</a:t>
            </a:r>
          </a:p>
        </p:txBody>
      </p:sp>
      <p:sp>
        <p:nvSpPr>
          <p:cNvPr name="TextBox 32" id="32"/>
          <p:cNvSpPr txBox="true"/>
          <p:nvPr/>
        </p:nvSpPr>
        <p:spPr>
          <a:xfrm rot="0">
            <a:off x="9508510" y="5496222"/>
            <a:ext cx="3394368" cy="412816"/>
          </a:xfrm>
          <a:prstGeom prst="rect">
            <a:avLst/>
          </a:prstGeom>
        </p:spPr>
        <p:txBody>
          <a:bodyPr anchor="t" rtlCol="false" tIns="0" lIns="0" bIns="0" rIns="0">
            <a:spAutoFit/>
          </a:bodyPr>
          <a:lstStyle/>
          <a:p>
            <a:pPr algn="ctr">
              <a:lnSpc>
                <a:spcPts val="3499"/>
              </a:lnSpc>
              <a:spcBef>
                <a:spcPct val="0"/>
              </a:spcBef>
            </a:pPr>
            <a:r>
              <a:rPr lang="en-US" sz="2499">
                <a:solidFill>
                  <a:srgbClr val="F3F6FB"/>
                </a:solidFill>
                <a:latin typeface="Inter"/>
                <a:ea typeface="Inter"/>
                <a:cs typeface="Inter"/>
                <a:sym typeface="Inter"/>
              </a:rPr>
              <a:t>Dat</a:t>
            </a:r>
            <a:r>
              <a:rPr lang="en-US" sz="2499">
                <a:solidFill>
                  <a:srgbClr val="F3F6FB"/>
                </a:solidFill>
                <a:latin typeface="Inter"/>
                <a:ea typeface="Inter"/>
                <a:cs typeface="Inter"/>
                <a:sym typeface="Inter"/>
              </a:rPr>
              <a:t>abases (SQL)</a:t>
            </a:r>
          </a:p>
        </p:txBody>
      </p:sp>
      <p:sp>
        <p:nvSpPr>
          <p:cNvPr name="TextBox 33" id="33"/>
          <p:cNvSpPr txBox="true"/>
          <p:nvPr/>
        </p:nvSpPr>
        <p:spPr>
          <a:xfrm rot="0">
            <a:off x="13630798" y="6574887"/>
            <a:ext cx="3394368" cy="1289249"/>
          </a:xfrm>
          <a:prstGeom prst="rect">
            <a:avLst/>
          </a:prstGeom>
        </p:spPr>
        <p:txBody>
          <a:bodyPr anchor="t" rtlCol="false" tIns="0" lIns="0" bIns="0" rIns="0">
            <a:spAutoFit/>
          </a:bodyPr>
          <a:lstStyle/>
          <a:p>
            <a:pPr algn="ctr">
              <a:lnSpc>
                <a:spcPts val="3499"/>
              </a:lnSpc>
              <a:spcBef>
                <a:spcPct val="0"/>
              </a:spcBef>
            </a:pPr>
            <a:r>
              <a:rPr lang="en-US" sz="2499">
                <a:solidFill>
                  <a:srgbClr val="F3F6FB"/>
                </a:solidFill>
                <a:latin typeface="Inter"/>
                <a:ea typeface="Inter"/>
                <a:cs typeface="Inter"/>
                <a:sym typeface="Inter"/>
              </a:rPr>
              <a:t>BI &amp; Visualization Tools (Power BI, T</a:t>
            </a:r>
            <a:r>
              <a:rPr lang="en-US" sz="2499">
                <a:solidFill>
                  <a:srgbClr val="F3F6FB"/>
                </a:solidFill>
                <a:latin typeface="Inter"/>
                <a:ea typeface="Inter"/>
                <a:cs typeface="Inter"/>
                <a:sym typeface="Inter"/>
              </a:rPr>
              <a:t>ableau)</a:t>
            </a:r>
          </a:p>
        </p:txBody>
      </p:sp>
      <p:sp>
        <p:nvSpPr>
          <p:cNvPr id="34" name="Rounded Rectangle 33"/>
          <p:cNvSpPr/>
          <p:nvPr/>
        </p:nvSpPr>
        <p:spPr>
          <a:xfrm>
            <a:off x="1024128" y="3291840"/>
            <a:ext cx="16239744" cy="5486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371600" y="3566160"/>
            <a:ext cx="15544800" cy="4937760"/>
          </a:xfrm>
          <a:prstGeom prst="rect">
            <a:avLst/>
          </a:prstGeom>
          <a:noFill/>
        </p:spPr>
        <p:txBody>
          <a:bodyPr wrap="square">
            <a:spAutoFit/>
          </a:bodyPr>
          <a:lstStyle/>
          <a:p>
            <a:pPr>
              <a:spcAft>
                <a:spcPts val="1800"/>
              </a:spcAft>
              <a:defRPr sz="1700">
                <a:solidFill>
                  <a:srgbClr val="0096A6"/>
                </a:solidFill>
              </a:defRPr>
            </a:pPr>
            <a:r>
              <a:t>✔  </a:t>
            </a:r>
            <a:r>
              <a:rPr sz="1500">
                <a:solidFill>
                  <a:srgbClr val="2D3748"/>
                </a:solidFill>
              </a:rPr>
              <a:t>Increase employee AI training.</a:t>
            </a:r>
          </a:p>
          <a:p>
            <a:pPr>
              <a:spcAft>
                <a:spcPts val="1800"/>
              </a:spcAft>
              <a:defRPr sz="1700">
                <a:solidFill>
                  <a:srgbClr val="0096A6"/>
                </a:solidFill>
              </a:defRPr>
            </a:pPr>
            <a:r>
              <a:t>✔  </a:t>
            </a:r>
            <a:r>
              <a:rPr sz="1500">
                <a:solidFill>
                  <a:srgbClr val="2D3748"/>
                </a:solidFill>
              </a:rPr>
              <a:t>Improve AI maturity.</a:t>
            </a:r>
          </a:p>
          <a:p>
            <a:pPr>
              <a:spcAft>
                <a:spcPts val="1800"/>
              </a:spcAft>
              <a:defRPr sz="1700">
                <a:solidFill>
                  <a:srgbClr val="0096A6"/>
                </a:solidFill>
              </a:defRPr>
            </a:pPr>
            <a:r>
              <a:t>✔  </a:t>
            </a:r>
            <a:r>
              <a:rPr sz="1500">
                <a:solidFill>
                  <a:srgbClr val="2D3748"/>
                </a:solidFill>
              </a:rPr>
              <a:t>Expand automation.</a:t>
            </a:r>
          </a:p>
          <a:p>
            <a:pPr>
              <a:spcAft>
                <a:spcPts val="1800"/>
              </a:spcAft>
              <a:defRPr sz="1700">
                <a:solidFill>
                  <a:srgbClr val="0096A6"/>
                </a:solidFill>
              </a:defRPr>
            </a:pPr>
            <a:r>
              <a:t>✔  </a:t>
            </a:r>
            <a:r>
              <a:rPr sz="1500">
                <a:solidFill>
                  <a:srgbClr val="2D3748"/>
                </a:solidFill>
              </a:rPr>
              <a:t>Invest strategically.</a:t>
            </a:r>
          </a:p>
          <a:p>
            <a:pPr>
              <a:spcAft>
                <a:spcPts val="1800"/>
              </a:spcAft>
              <a:defRPr sz="1700">
                <a:solidFill>
                  <a:srgbClr val="0096A6"/>
                </a:solidFill>
              </a:defRPr>
            </a:pPr>
            <a:r>
              <a:t>✔  </a:t>
            </a:r>
            <a:r>
              <a:rPr sz="1500">
                <a:solidFill>
                  <a:srgbClr val="2D3748"/>
                </a:solidFill>
              </a:rPr>
              <a:t>Measure AI performance regularly.</a:t>
            </a:r>
          </a:p>
          <a:p>
            <a:pPr>
              <a:spcAft>
                <a:spcPts val="1800"/>
              </a:spcAft>
              <a:defRPr sz="1700">
                <a:solidFill>
                  <a:srgbClr val="0096A6"/>
                </a:solidFill>
              </a:defRPr>
            </a:pPr>
            <a:r>
              <a:t>✔  </a:t>
            </a:r>
            <a:r>
              <a:rPr sz="1500">
                <a:solidFill>
                  <a:srgbClr val="2D3748"/>
                </a:solidFill>
              </a:rPr>
              <a:t>Build long-term AI strategy.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9144000" y="1028700"/>
            <a:ext cx="8115300" cy="8229600"/>
            <a:chOff x="0" y="0"/>
            <a:chExt cx="1257272" cy="1274980"/>
          </a:xfrm>
        </p:grpSpPr>
        <p:sp>
          <p:nvSpPr>
            <p:cNvPr name="Freeform 3" id="3"/>
            <p:cNvSpPr/>
            <p:nvPr/>
          </p:nvSpPr>
          <p:spPr>
            <a:xfrm flipH="false" flipV="false" rot="0">
              <a:off x="0" y="0"/>
              <a:ext cx="1257272" cy="1274980"/>
            </a:xfrm>
            <a:custGeom>
              <a:avLst/>
              <a:gdLst/>
              <a:ahLst/>
              <a:cxnLst/>
              <a:rect r="r" b="b" t="t" l="l"/>
              <a:pathLst>
                <a:path h="1274980" w="1257272">
                  <a:moveTo>
                    <a:pt x="38160" y="0"/>
                  </a:moveTo>
                  <a:lnTo>
                    <a:pt x="1219113" y="0"/>
                  </a:lnTo>
                  <a:cubicBezTo>
                    <a:pt x="1240188" y="0"/>
                    <a:pt x="1257272" y="17085"/>
                    <a:pt x="1257272" y="38160"/>
                  </a:cubicBezTo>
                  <a:lnTo>
                    <a:pt x="1257272" y="1236821"/>
                  </a:lnTo>
                  <a:cubicBezTo>
                    <a:pt x="1257272" y="1257896"/>
                    <a:pt x="1240188" y="1274980"/>
                    <a:pt x="1219113" y="1274980"/>
                  </a:cubicBezTo>
                  <a:lnTo>
                    <a:pt x="38160" y="1274980"/>
                  </a:lnTo>
                  <a:cubicBezTo>
                    <a:pt x="17085" y="1274980"/>
                    <a:pt x="0" y="1257896"/>
                    <a:pt x="0" y="1236821"/>
                  </a:cubicBezTo>
                  <a:lnTo>
                    <a:pt x="0" y="38160"/>
                  </a:lnTo>
                  <a:cubicBezTo>
                    <a:pt x="0" y="17085"/>
                    <a:pt x="17085" y="0"/>
                    <a:pt x="38160" y="0"/>
                  </a:cubicBezTo>
                  <a:close/>
                </a:path>
              </a:pathLst>
            </a:custGeom>
            <a:blipFill>
              <a:blip r:embed="rId2"/>
              <a:stretch>
                <a:fillRect l="-25987" t="0" r="-25987" b="0"/>
              </a:stretch>
            </a:blipFill>
          </p:spPr>
        </p:sp>
      </p:grpSp>
      <p:sp>
        <p:nvSpPr>
          <p:cNvPr name="TextBox 4" id="4"/>
          <p:cNvSpPr txBox="true"/>
          <p:nvPr/>
        </p:nvSpPr>
        <p:spPr>
          <a:xfrm rot="0">
            <a:off x="1028700" y="2965913"/>
            <a:ext cx="5629378" cy="1698692"/>
          </a:xfrm>
          <a:prstGeom prst="rect">
            <a:avLst/>
          </a:prstGeom>
        </p:spPr>
        <p:txBody>
          <a:bodyPr anchor="t" rtlCol="false" tIns="0" lIns="0" bIns="0" rIns="0">
            <a:spAutoFit/>
          </a:bodyPr>
          <a:lstStyle/>
          <a:p>
            <a:pPr>
              <a:defRPr b="1">
                <a:solidFill>
                  <a:srgbClr val="FFFFFF"/>
                </a:solidFill>
                <a:latin typeface="Arial"/>
              </a:defRPr>
            </a:pPr>
            <a:r>
              <a:t>CONCLUSION</a:t>
            </a:r>
          </a:p>
        </p:txBody>
      </p:sp>
      <p:sp>
        <p:nvSpPr>
          <p:cNvPr name="TextBox 5" id="5"/>
          <p:cNvSpPr txBox="true"/>
          <p:nvPr/>
        </p:nvSpPr>
        <p:spPr>
          <a:xfrm rot="0">
            <a:off x="1024128" y="6858000"/>
            <a:ext cx="16239744" cy="1698692"/>
          </a:xfrm>
          <a:prstGeom prst="rect">
            <a:avLst/>
          </a:prstGeom>
        </p:spPr>
        <p:txBody>
          <a:bodyPr anchor="t" rtlCol="false" tIns="0" lIns="0" bIns="0" rIns="0">
            <a:spAutoFit/>
          </a:bodyPr>
          <a:lstStyle/>
          <a:p>
            <a:pPr algn="ctr">
              <a:defRPr b="1">
                <a:solidFill>
                  <a:srgbClr val="0096A6"/>
                </a:solidFill>
                <a:latin typeface="Arial"/>
              </a:defRPr>
            </a:pPr>
            <a:r>
              <a:t>Thank You</a:t>
            </a:r>
          </a:p>
        </p:txBody>
      </p:sp>
      <p:sp>
        <p:nvSpPr>
          <p:cNvPr name="TextBox 6" id="6"/>
          <p:cNvSpPr txBox="true"/>
          <p:nvPr/>
        </p:nvSpPr>
        <p:spPr>
          <a:xfrm rot="0">
            <a:off x="1028700" y="6046405"/>
            <a:ext cx="6531756" cy="412816"/>
          </a:xfrm>
          <a:prstGeom prst="rect">
            <a:avLst/>
          </a:prstGeom>
        </p:spPr>
        <p:txBody>
          <a:bodyPr anchor="t" rtlCol="false" tIns="0" lIns="0" bIns="0" rIns="0">
            <a:spAutoFit/>
          </a:bodyPr>
          <a:lstStyle/>
          <a:p/>
        </p:txBody>
      </p:sp>
      <p:sp>
        <p:nvSpPr>
          <p:cNvPr name="TextBox 7" id="7"/>
          <p:cNvSpPr txBox="true"/>
          <p:nvPr/>
        </p:nvSpPr>
        <p:spPr>
          <a:xfrm rot="0">
            <a:off x="1028700" y="8845484"/>
            <a:ext cx="4291680" cy="412816"/>
          </a:xfrm>
          <a:prstGeom prst="rect">
            <a:avLst/>
          </a:prstGeom>
        </p:spPr>
        <p:txBody>
          <a:bodyPr anchor="t" rtlCol="false" tIns="0" lIns="0" bIns="0" rIns="0">
            <a:spAutoFit/>
          </a:bodyPr>
          <a:lstStyle/>
          <a:p/>
        </p:txBody>
      </p:sp>
      <p:sp>
        <p:nvSpPr>
          <p:cNvPr name="TextBox 8" id="8"/>
          <p:cNvSpPr txBox="true"/>
          <p:nvPr/>
        </p:nvSpPr>
        <p:spPr>
          <a:xfrm rot="0">
            <a:off x="1028700" y="990600"/>
            <a:ext cx="4291680" cy="412816"/>
          </a:xfrm>
          <a:prstGeom prst="rect">
            <a:avLst/>
          </a:prstGeom>
        </p:spPr>
        <p:txBody>
          <a:bodyPr anchor="t" rtlCol="false" tIns="0" lIns="0" bIns="0" rIns="0">
            <a:spAutoFit/>
          </a:bodyPr>
          <a:lstStyle/>
          <a:p/>
        </p:txBody>
      </p:sp>
      <p:sp>
        <p:nvSpPr>
          <p:cNvPr name="Freeform 9" id="9"/>
          <p:cNvSpPr/>
          <p:nvPr/>
        </p:nvSpPr>
        <p:spPr>
          <a:xfrm flipH="false" flipV="false" rot="0">
            <a:off x="6324660" y="3864431"/>
            <a:ext cx="1654105" cy="1600346"/>
          </a:xfrm>
          <a:custGeom>
            <a:avLst/>
            <a:gdLst/>
            <a:ahLst/>
            <a:cxnLst/>
            <a:rect r="r" b="b" t="t" l="l"/>
            <a:pathLst>
              <a:path h="1600346" w="1654105">
                <a:moveTo>
                  <a:pt x="0" y="0"/>
                </a:moveTo>
                <a:lnTo>
                  <a:pt x="1654105" y="0"/>
                </a:lnTo>
                <a:lnTo>
                  <a:pt x="1654105" y="1600347"/>
                </a:lnTo>
                <a:lnTo>
                  <a:pt x="0" y="160034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id="10" name="TextBox 9"/>
          <p:cNvSpPr txBox="1"/>
          <p:nvPr/>
        </p:nvSpPr>
        <p:spPr>
          <a:xfrm>
            <a:off x="1828800" y="3291840"/>
            <a:ext cx="14630400" cy="2926080"/>
          </a:xfrm>
          <a:prstGeom prst="rect">
            <a:avLst/>
          </a:prstGeom>
          <a:noFill/>
        </p:spPr>
        <p:txBody>
          <a:bodyPr wrap="square">
            <a:spAutoFit/>
          </a:bodyPr>
          <a:lstStyle/>
          <a:p>
            <a:pPr algn="ctr">
              <a:spcAft>
                <a:spcPts val="2400"/>
              </a:spcAft>
              <a:defRPr sz="2000">
                <a:solidFill>
                  <a:srgbClr val="FFFFFF"/>
                </a:solidFill>
                <a:latin typeface="Arial"/>
              </a:defRPr>
            </a:pPr>
            <a:r>
              <a:t>AI adoption has grown consistently between 2015 and 2025, driving significant improvements in productivity, revenue, and cost savings across industries. A balanced strategy that combines financial investment, process-wide automation, and robust employee training is crucial for organizations to maximize their AI returns and build long-term AI maturity.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